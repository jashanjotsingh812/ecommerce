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837537" y="3314466"/>
            <a:ext cx="7165975" cy="1749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50" b="0" i="0">
                <a:solidFill>
                  <a:srgbClr val="F1F0F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837537" y="5402002"/>
            <a:ext cx="9036050" cy="1368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50" b="0" i="0">
                <a:solidFill>
                  <a:srgbClr val="F1F0F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893567"/>
            <a:ext cx="18288000" cy="8658860"/>
          </a:xfrm>
          <a:custGeom>
            <a:avLst/>
            <a:gdLst/>
            <a:ahLst/>
            <a:cxnLst/>
            <a:rect l="l" t="t" r="r" b="b"/>
            <a:pathLst>
              <a:path w="18288000" h="8658860">
                <a:moveTo>
                  <a:pt x="0" y="8658240"/>
                </a:moveTo>
                <a:lnTo>
                  <a:pt x="18287998" y="8658240"/>
                </a:lnTo>
                <a:lnTo>
                  <a:pt x="18287998" y="0"/>
                </a:lnTo>
                <a:lnTo>
                  <a:pt x="0" y="0"/>
                </a:lnTo>
                <a:lnTo>
                  <a:pt x="0" y="8658240"/>
                </a:lnTo>
                <a:close/>
              </a:path>
            </a:pathLst>
          </a:custGeom>
          <a:solidFill>
            <a:srgbClr val="0D092B">
              <a:alpha val="9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49018" y="9686925"/>
            <a:ext cx="2152649" cy="51434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9551809"/>
            <a:ext cx="18288000" cy="735330"/>
          </a:xfrm>
          <a:custGeom>
            <a:avLst/>
            <a:gdLst/>
            <a:ahLst/>
            <a:cxnLst/>
            <a:rect l="l" t="t" r="r" b="b"/>
            <a:pathLst>
              <a:path w="18288000" h="735329">
                <a:moveTo>
                  <a:pt x="18287885" y="735191"/>
                </a:moveTo>
                <a:lnTo>
                  <a:pt x="0" y="735191"/>
                </a:lnTo>
                <a:lnTo>
                  <a:pt x="0" y="0"/>
                </a:lnTo>
                <a:lnTo>
                  <a:pt x="18287885" y="0"/>
                </a:lnTo>
                <a:lnTo>
                  <a:pt x="18287885" y="7351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50" b="0" i="0">
                <a:solidFill>
                  <a:srgbClr val="F1F0F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50" b="0" i="0">
                <a:solidFill>
                  <a:srgbClr val="F1F0F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893567"/>
            <a:ext cx="18288000" cy="8658860"/>
          </a:xfrm>
          <a:custGeom>
            <a:avLst/>
            <a:gdLst/>
            <a:ahLst/>
            <a:cxnLst/>
            <a:rect l="l" t="t" r="r" b="b"/>
            <a:pathLst>
              <a:path w="18288000" h="8658860">
                <a:moveTo>
                  <a:pt x="0" y="8658240"/>
                </a:moveTo>
                <a:lnTo>
                  <a:pt x="18287998" y="8658240"/>
                </a:lnTo>
                <a:lnTo>
                  <a:pt x="18287998" y="0"/>
                </a:lnTo>
                <a:lnTo>
                  <a:pt x="0" y="0"/>
                </a:lnTo>
                <a:lnTo>
                  <a:pt x="0" y="8658240"/>
                </a:lnTo>
                <a:close/>
              </a:path>
            </a:pathLst>
          </a:custGeom>
          <a:solidFill>
            <a:srgbClr val="0D092B">
              <a:alpha val="9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7999" cy="102869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4359" y="3652242"/>
            <a:ext cx="6153110" cy="2981324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18286730" cy="894080"/>
          </a:xfrm>
          <a:custGeom>
            <a:avLst/>
            <a:gdLst/>
            <a:ahLst/>
            <a:cxnLst/>
            <a:rect l="l" t="t" r="r" b="b"/>
            <a:pathLst>
              <a:path w="18286730" h="894080">
                <a:moveTo>
                  <a:pt x="18286728" y="893567"/>
                </a:moveTo>
                <a:lnTo>
                  <a:pt x="0" y="893567"/>
                </a:lnTo>
                <a:lnTo>
                  <a:pt x="0" y="0"/>
                </a:lnTo>
                <a:lnTo>
                  <a:pt x="18286728" y="0"/>
                </a:lnTo>
                <a:lnTo>
                  <a:pt x="18286728" y="893567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9551809"/>
            <a:ext cx="18288000" cy="735330"/>
          </a:xfrm>
          <a:custGeom>
            <a:avLst/>
            <a:gdLst/>
            <a:ahLst/>
            <a:cxnLst/>
            <a:rect l="l" t="t" r="r" b="b"/>
            <a:pathLst>
              <a:path w="18288000" h="735329">
                <a:moveTo>
                  <a:pt x="18287885" y="735191"/>
                </a:moveTo>
                <a:lnTo>
                  <a:pt x="0" y="735191"/>
                </a:lnTo>
                <a:lnTo>
                  <a:pt x="0" y="0"/>
                </a:lnTo>
                <a:lnTo>
                  <a:pt x="18287885" y="0"/>
                </a:lnTo>
                <a:lnTo>
                  <a:pt x="18287885" y="7351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79915" y="243840"/>
            <a:ext cx="2047874" cy="64762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893567"/>
            <a:ext cx="18288000" cy="8658860"/>
          </a:xfrm>
          <a:custGeom>
            <a:avLst/>
            <a:gdLst/>
            <a:ahLst/>
            <a:cxnLst/>
            <a:rect l="l" t="t" r="r" b="b"/>
            <a:pathLst>
              <a:path w="18288000" h="8658860">
                <a:moveTo>
                  <a:pt x="0" y="8658240"/>
                </a:moveTo>
                <a:lnTo>
                  <a:pt x="18287998" y="8658240"/>
                </a:lnTo>
                <a:lnTo>
                  <a:pt x="18287998" y="0"/>
                </a:lnTo>
                <a:lnTo>
                  <a:pt x="0" y="0"/>
                </a:lnTo>
                <a:lnTo>
                  <a:pt x="0" y="8658240"/>
                </a:lnTo>
                <a:close/>
              </a:path>
            </a:pathLst>
          </a:custGeom>
          <a:solidFill>
            <a:srgbClr val="0D092B">
              <a:alpha val="9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049018" y="9686925"/>
            <a:ext cx="2152649" cy="5143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5069" y="526617"/>
            <a:ext cx="16857860" cy="11965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50" b="0" i="0">
                <a:solidFill>
                  <a:srgbClr val="F1F0F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5356" y="2846903"/>
            <a:ext cx="7577286" cy="3432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95800" y="1016675"/>
            <a:ext cx="9662274" cy="14568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z="3000" b="1" spc="75">
                <a:latin typeface="Times New Roman"/>
                <a:cs typeface="Times New Roman"/>
              </a:rPr>
              <a:t>   </a:t>
            </a:r>
            <a:r>
              <a:rPr sz="3000" b="1" spc="75">
                <a:latin typeface="Times New Roman"/>
                <a:cs typeface="Times New Roman"/>
              </a:rPr>
              <a:t>Project</a:t>
            </a:r>
            <a:r>
              <a:rPr sz="3000" b="1" spc="5">
                <a:latin typeface="Times New Roman"/>
                <a:cs typeface="Times New Roman"/>
              </a:rPr>
              <a:t> </a:t>
            </a:r>
            <a:r>
              <a:rPr sz="3000" b="1" spc="95">
                <a:latin typeface="Times New Roman"/>
                <a:cs typeface="Times New Roman"/>
              </a:rPr>
              <a:t>Presentation</a:t>
            </a:r>
            <a:r>
              <a:rPr sz="3000" b="1" spc="10">
                <a:latin typeface="Times New Roman"/>
                <a:cs typeface="Times New Roman"/>
              </a:rPr>
              <a:t> </a:t>
            </a:r>
            <a:r>
              <a:rPr sz="3000" b="1" spc="80">
                <a:latin typeface="Times New Roman"/>
                <a:cs typeface="Times New Roman"/>
              </a:rPr>
              <a:t>of</a:t>
            </a:r>
            <a:r>
              <a:rPr sz="3000" b="1" spc="10">
                <a:latin typeface="Times New Roman"/>
                <a:cs typeface="Times New Roman"/>
              </a:rPr>
              <a:t> </a:t>
            </a:r>
            <a:r>
              <a:rPr lang="en-IN" sz="3000" b="1" spc="165">
                <a:latin typeface="Times New Roman"/>
                <a:cs typeface="Times New Roman"/>
              </a:rPr>
              <a:t>Exploratory Project(EP)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z="3000" b="1" spc="165">
                <a:latin typeface="Times New Roman"/>
                <a:cs typeface="Times New Roman"/>
              </a:rPr>
              <a:t>                                   </a:t>
            </a:r>
            <a:r>
              <a:rPr lang="en-IN" sz="3200" spc="165">
                <a:latin typeface="Times New Roman"/>
                <a:cs typeface="Times New Roman"/>
              </a:rPr>
              <a:t>On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z="3000" b="1">
                <a:latin typeface="Times New Roman"/>
                <a:cs typeface="Times New Roman"/>
              </a:rPr>
              <a:t> </a:t>
            </a:r>
            <a:endParaRPr sz="3000" b="1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00400" y="1857970"/>
            <a:ext cx="14249400" cy="9233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917825" algn="l"/>
              </a:tabLst>
            </a:pPr>
            <a:r>
              <a:rPr lang="en-IN" sz="5900" spc="200">
                <a:solidFill>
                  <a:srgbClr val="000000"/>
                </a:solidFill>
                <a:latin typeface="Times New Roman"/>
                <a:cs typeface="Times New Roman"/>
              </a:rPr>
              <a:t>     </a:t>
            </a:r>
            <a:r>
              <a:rPr sz="5900" spc="200">
                <a:solidFill>
                  <a:srgbClr val="000000"/>
                </a:solidFill>
                <a:latin typeface="Times New Roman"/>
                <a:cs typeface="Times New Roman"/>
              </a:rPr>
              <a:t>Forever</a:t>
            </a:r>
            <a:r>
              <a:rPr lang="en-IN" sz="5900" spc="200">
                <a:solidFill>
                  <a:srgbClr val="000000"/>
                </a:solidFill>
                <a:latin typeface="Times New Roman"/>
                <a:cs typeface="Times New Roman"/>
              </a:rPr>
              <a:t>:</a:t>
            </a:r>
            <a:r>
              <a:rPr sz="5900" spc="155">
                <a:solidFill>
                  <a:srgbClr val="000000"/>
                </a:solidFill>
                <a:latin typeface="Times New Roman"/>
                <a:cs typeface="Times New Roman"/>
              </a:rPr>
              <a:t>E-</a:t>
            </a:r>
            <a:r>
              <a:rPr lang="en-IN" sz="5900" spc="125" dirty="0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  <a:r>
              <a:rPr sz="5900" spc="125">
                <a:solidFill>
                  <a:srgbClr val="000000"/>
                </a:solidFill>
                <a:latin typeface="Times New Roman"/>
                <a:cs typeface="Times New Roman"/>
              </a:rPr>
              <a:t>ommerce</a:t>
            </a:r>
            <a:r>
              <a:rPr sz="5900" spc="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5900" spc="95" dirty="0">
                <a:solidFill>
                  <a:srgbClr val="000000"/>
                </a:solidFill>
                <a:latin typeface="Times New Roman"/>
                <a:cs typeface="Times New Roman"/>
              </a:rPr>
              <a:t>Website</a:t>
            </a:r>
            <a:endParaRPr sz="5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5355356" y="2846903"/>
            <a:ext cx="7577286" cy="34458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ts val="3835"/>
              </a:lnSpc>
              <a:spcBef>
                <a:spcPts val="130"/>
              </a:spcBef>
            </a:pPr>
            <a:r>
              <a:rPr lang="en-IN" spc="125"/>
              <a:t>     </a:t>
            </a:r>
            <a:r>
              <a:rPr spc="125"/>
              <a:t>Jashan</a:t>
            </a:r>
            <a:r>
              <a:rPr lang="en-IN" spc="125"/>
              <a:t>jot</a:t>
            </a:r>
            <a:r>
              <a:rPr spc="10"/>
              <a:t> </a:t>
            </a:r>
            <a:r>
              <a:rPr spc="70" dirty="0"/>
              <a:t>Singh</a:t>
            </a:r>
            <a:r>
              <a:rPr spc="10" dirty="0"/>
              <a:t> </a:t>
            </a:r>
            <a:r>
              <a:rPr spc="-10"/>
              <a:t>(22109904</a:t>
            </a:r>
            <a:r>
              <a:rPr lang="en-IN" spc="-10"/>
              <a:t>41</a:t>
            </a:r>
            <a:r>
              <a:rPr spc="-10"/>
              <a:t>)</a:t>
            </a:r>
            <a:endParaRPr lang="en-IN" spc="-10"/>
          </a:p>
          <a:p>
            <a:pPr algn="ctr">
              <a:lnSpc>
                <a:spcPts val="3825"/>
              </a:lnSpc>
            </a:pPr>
            <a:r>
              <a:rPr lang="en-IN" spc="135"/>
              <a:t>   Jasmeet Singh</a:t>
            </a:r>
            <a:r>
              <a:rPr lang="en-IN" spc="20"/>
              <a:t> </a:t>
            </a:r>
            <a:r>
              <a:rPr lang="en-IN" spc="-10"/>
              <a:t>(2210990449)</a:t>
            </a:r>
          </a:p>
          <a:p>
            <a:pPr algn="ctr">
              <a:lnSpc>
                <a:spcPts val="3825"/>
              </a:lnSpc>
            </a:pPr>
            <a:r>
              <a:rPr lang="en-IN" spc="130"/>
              <a:t> Jasneet</a:t>
            </a:r>
            <a:r>
              <a:rPr lang="en-IN" spc="5"/>
              <a:t> </a:t>
            </a:r>
            <a:r>
              <a:rPr lang="en-IN" spc="70"/>
              <a:t>Singh</a:t>
            </a:r>
            <a:r>
              <a:rPr lang="en-IN" spc="10"/>
              <a:t> </a:t>
            </a:r>
            <a:r>
              <a:rPr lang="en-IN" spc="-10"/>
              <a:t>(2210990452)</a:t>
            </a:r>
          </a:p>
          <a:p>
            <a:pPr algn="ctr">
              <a:lnSpc>
                <a:spcPts val="3829"/>
              </a:lnSpc>
            </a:pPr>
            <a:r>
              <a:rPr lang="en-IN" spc="130"/>
              <a:t>Harsh</a:t>
            </a:r>
            <a:r>
              <a:rPr lang="en-IN" spc="10"/>
              <a:t> </a:t>
            </a:r>
            <a:r>
              <a:rPr lang="en-IN" spc="65"/>
              <a:t>Bansal</a:t>
            </a:r>
            <a:r>
              <a:rPr lang="en-IN" spc="10"/>
              <a:t> </a:t>
            </a:r>
            <a:r>
              <a:rPr lang="en-IN" spc="-10"/>
              <a:t>(2210990376)</a:t>
            </a: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pc="-10" dirty="0"/>
          </a:p>
          <a:p>
            <a:pPr algn="ctr">
              <a:lnSpc>
                <a:spcPts val="3829"/>
              </a:lnSpc>
            </a:pPr>
            <a:r>
              <a:rPr spc="60" dirty="0"/>
              <a:t>Supervised</a:t>
            </a:r>
            <a:r>
              <a:rPr spc="25" dirty="0"/>
              <a:t> </a:t>
            </a:r>
            <a:r>
              <a:rPr spc="-25" dirty="0"/>
              <a:t>By</a:t>
            </a:r>
          </a:p>
          <a:p>
            <a:pPr algn="ctr">
              <a:lnSpc>
                <a:spcPts val="3829"/>
              </a:lnSpc>
            </a:pPr>
            <a:r>
              <a:rPr spc="195"/>
              <a:t>Mr</a:t>
            </a:r>
            <a:r>
              <a:rPr lang="en-IN" spc="195"/>
              <a:t>s</a:t>
            </a:r>
            <a:r>
              <a:rPr spc="195"/>
              <a:t>.</a:t>
            </a:r>
            <a:r>
              <a:rPr lang="en-IN" spc="195"/>
              <a:t>Isha Kansal/Jashanjot Singh</a:t>
            </a:r>
            <a:r>
              <a:rPr spc="15"/>
              <a:t> </a:t>
            </a:r>
            <a:endParaRPr spc="100" dirty="0"/>
          </a:p>
        </p:txBody>
      </p:sp>
      <p:sp>
        <p:nvSpPr>
          <p:cNvPr id="5" name="object 5"/>
          <p:cNvSpPr txBox="1"/>
          <p:nvPr/>
        </p:nvSpPr>
        <p:spPr>
          <a:xfrm>
            <a:off x="4014584" y="7698176"/>
            <a:ext cx="10143490" cy="113601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2327275" marR="5080" indent="-2315210">
              <a:lnSpc>
                <a:spcPts val="4350"/>
              </a:lnSpc>
              <a:spcBef>
                <a:spcPts val="240"/>
              </a:spcBef>
            </a:pPr>
            <a:r>
              <a:rPr sz="3650" spc="155" dirty="0">
                <a:latin typeface="Times New Roman"/>
                <a:cs typeface="Times New Roman"/>
              </a:rPr>
              <a:t>Department</a:t>
            </a:r>
            <a:r>
              <a:rPr sz="3650" dirty="0">
                <a:latin typeface="Times New Roman"/>
                <a:cs typeface="Times New Roman"/>
              </a:rPr>
              <a:t> </a:t>
            </a:r>
            <a:r>
              <a:rPr sz="3650" spc="85" dirty="0">
                <a:latin typeface="Times New Roman"/>
                <a:cs typeface="Times New Roman"/>
              </a:rPr>
              <a:t>of</a:t>
            </a:r>
            <a:r>
              <a:rPr sz="3650" spc="5" dirty="0">
                <a:latin typeface="Times New Roman"/>
                <a:cs typeface="Times New Roman"/>
              </a:rPr>
              <a:t> </a:t>
            </a:r>
            <a:r>
              <a:rPr sz="3650" spc="150" dirty="0">
                <a:latin typeface="Times New Roman"/>
                <a:cs typeface="Times New Roman"/>
              </a:rPr>
              <a:t>Computer</a:t>
            </a:r>
            <a:r>
              <a:rPr sz="3650" spc="5" dirty="0">
                <a:latin typeface="Times New Roman"/>
                <a:cs typeface="Times New Roman"/>
              </a:rPr>
              <a:t> </a:t>
            </a:r>
            <a:r>
              <a:rPr sz="3650" dirty="0">
                <a:latin typeface="Times New Roman"/>
                <a:cs typeface="Times New Roman"/>
              </a:rPr>
              <a:t>Science</a:t>
            </a:r>
            <a:r>
              <a:rPr sz="3650" spc="5" dirty="0">
                <a:latin typeface="Times New Roman"/>
                <a:cs typeface="Times New Roman"/>
              </a:rPr>
              <a:t> </a:t>
            </a:r>
            <a:r>
              <a:rPr sz="3650" spc="180" dirty="0">
                <a:latin typeface="Times New Roman"/>
                <a:cs typeface="Times New Roman"/>
              </a:rPr>
              <a:t>and</a:t>
            </a:r>
            <a:r>
              <a:rPr sz="3650" spc="5" dirty="0">
                <a:latin typeface="Times New Roman"/>
                <a:cs typeface="Times New Roman"/>
              </a:rPr>
              <a:t> </a:t>
            </a:r>
            <a:r>
              <a:rPr sz="3650" spc="55" dirty="0">
                <a:latin typeface="Times New Roman"/>
                <a:cs typeface="Times New Roman"/>
              </a:rPr>
              <a:t>Engineering, </a:t>
            </a:r>
            <a:r>
              <a:rPr sz="3650" spc="155" dirty="0">
                <a:latin typeface="Times New Roman"/>
                <a:cs typeface="Times New Roman"/>
              </a:rPr>
              <a:t>Chitkara</a:t>
            </a:r>
            <a:r>
              <a:rPr sz="3650" spc="15" dirty="0">
                <a:latin typeface="Times New Roman"/>
                <a:cs typeface="Times New Roman"/>
              </a:rPr>
              <a:t> </a:t>
            </a:r>
            <a:r>
              <a:rPr sz="3650" spc="75" dirty="0">
                <a:latin typeface="Times New Roman"/>
                <a:cs typeface="Times New Roman"/>
              </a:rPr>
              <a:t>University,</a:t>
            </a:r>
            <a:r>
              <a:rPr sz="3650" spc="15" dirty="0">
                <a:latin typeface="Times New Roman"/>
                <a:cs typeface="Times New Roman"/>
              </a:rPr>
              <a:t> </a:t>
            </a:r>
            <a:r>
              <a:rPr sz="3650" spc="130" dirty="0">
                <a:latin typeface="Times New Roman"/>
                <a:cs typeface="Times New Roman"/>
              </a:rPr>
              <a:t>Punjab</a:t>
            </a:r>
            <a:endParaRPr sz="365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18286730" cy="894080"/>
            <a:chOff x="0" y="0"/>
            <a:chExt cx="18286730" cy="894080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18286730" cy="894080"/>
            </a:xfrm>
            <a:custGeom>
              <a:avLst/>
              <a:gdLst/>
              <a:ahLst/>
              <a:cxnLst/>
              <a:rect l="l" t="t" r="r" b="b"/>
              <a:pathLst>
                <a:path w="18286730" h="894080">
                  <a:moveTo>
                    <a:pt x="18286728" y="893567"/>
                  </a:moveTo>
                  <a:lnTo>
                    <a:pt x="0" y="893567"/>
                  </a:lnTo>
                  <a:lnTo>
                    <a:pt x="0" y="0"/>
                  </a:lnTo>
                  <a:lnTo>
                    <a:pt x="18286728" y="0"/>
                  </a:lnTo>
                  <a:lnTo>
                    <a:pt x="18286728" y="893567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79915" y="243840"/>
              <a:ext cx="2047874" cy="647623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0" y="9551809"/>
            <a:ext cx="18288000" cy="735330"/>
          </a:xfrm>
          <a:custGeom>
            <a:avLst/>
            <a:gdLst/>
            <a:ahLst/>
            <a:cxnLst/>
            <a:rect l="l" t="t" r="r" b="b"/>
            <a:pathLst>
              <a:path w="18288000" h="735329">
                <a:moveTo>
                  <a:pt x="18287885" y="735191"/>
                </a:moveTo>
                <a:lnTo>
                  <a:pt x="0" y="735191"/>
                </a:lnTo>
                <a:lnTo>
                  <a:pt x="0" y="0"/>
                </a:lnTo>
                <a:lnTo>
                  <a:pt x="18287885" y="0"/>
                </a:lnTo>
                <a:lnTo>
                  <a:pt x="18287885" y="7351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37537" y="4076687"/>
            <a:ext cx="9435465" cy="18161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6600"/>
              </a:lnSpc>
              <a:spcBef>
                <a:spcPts val="90"/>
              </a:spcBef>
            </a:pP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FOREVER:</a:t>
            </a:r>
            <a:r>
              <a:rPr sz="2150" spc="-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Comprehensive Shopping Experience</a:t>
            </a:r>
            <a:r>
              <a:rPr sz="2150" spc="-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75" dirty="0">
                <a:solidFill>
                  <a:srgbClr val="DBD6E4"/>
                </a:solidFill>
                <a:latin typeface="Tahoma"/>
                <a:cs typeface="Tahoma"/>
              </a:rPr>
              <a:t>A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40" dirty="0">
                <a:solidFill>
                  <a:srgbClr val="DBD6E4"/>
                </a:solidFill>
                <a:latin typeface="Tahoma"/>
                <a:cs typeface="Tahoma"/>
              </a:rPr>
              <a:t>fully-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functional </a:t>
            </a:r>
            <a:r>
              <a:rPr sz="2150" spc="-25" dirty="0">
                <a:solidFill>
                  <a:srgbClr val="DBD6E4"/>
                </a:solidFill>
                <a:latin typeface="Tahoma"/>
                <a:cs typeface="Tahoma"/>
              </a:rPr>
              <a:t>e- </a:t>
            </a:r>
            <a:r>
              <a:rPr sz="2150" spc="60" dirty="0">
                <a:solidFill>
                  <a:srgbClr val="DBD6E4"/>
                </a:solidFill>
                <a:latin typeface="Tahoma"/>
                <a:cs typeface="Tahoma"/>
              </a:rPr>
              <a:t>commerce</a:t>
            </a:r>
            <a:r>
              <a:rPr sz="2150" spc="-3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website</a:t>
            </a:r>
            <a:r>
              <a:rPr sz="2150" spc="-3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designed</a:t>
            </a:r>
            <a:r>
              <a:rPr sz="2150" spc="-3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for</a:t>
            </a:r>
            <a:r>
              <a:rPr sz="2150" spc="-3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a</a:t>
            </a:r>
            <a:r>
              <a:rPr sz="2150" spc="-3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streamlined</a:t>
            </a:r>
            <a:r>
              <a:rPr sz="2150" spc="-3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shopping</a:t>
            </a:r>
            <a:r>
              <a:rPr sz="2150" spc="-3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experience.</a:t>
            </a:r>
            <a:r>
              <a:rPr sz="2150" spc="-3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Features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include</a:t>
            </a:r>
            <a:r>
              <a:rPr sz="2150" spc="-5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diverse</a:t>
            </a:r>
            <a:r>
              <a:rPr sz="2150" spc="-5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product</a:t>
            </a:r>
            <a:r>
              <a:rPr sz="2150" spc="-5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categories,</a:t>
            </a:r>
            <a:r>
              <a:rPr sz="2150" spc="-5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advanced</a:t>
            </a:r>
            <a:r>
              <a:rPr sz="2150" spc="-5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35" dirty="0">
                <a:solidFill>
                  <a:srgbClr val="DBD6E4"/>
                </a:solidFill>
                <a:latin typeface="Tahoma"/>
                <a:cs typeface="Tahoma"/>
              </a:rPr>
              <a:t>filtering,</a:t>
            </a:r>
            <a:r>
              <a:rPr sz="2150" spc="-5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and</a:t>
            </a:r>
            <a:r>
              <a:rPr sz="2150" spc="-5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a</a:t>
            </a:r>
            <a:r>
              <a:rPr sz="2150" spc="-5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scalable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architecture</a:t>
            </a:r>
            <a:r>
              <a:rPr sz="2150" spc="-10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ready</a:t>
            </a:r>
            <a:r>
              <a:rPr sz="2150" spc="-10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for</a:t>
            </a:r>
            <a:r>
              <a:rPr sz="2150" spc="-9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future</a:t>
            </a:r>
            <a:r>
              <a:rPr sz="2150" spc="-10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expansion.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551809"/>
            <a:ext cx="18288000" cy="735330"/>
          </a:xfrm>
          <a:custGeom>
            <a:avLst/>
            <a:gdLst/>
            <a:ahLst/>
            <a:cxnLst/>
            <a:rect l="l" t="t" r="r" b="b"/>
            <a:pathLst>
              <a:path w="18288000" h="735329">
                <a:moveTo>
                  <a:pt x="18287885" y="735191"/>
                </a:moveTo>
                <a:lnTo>
                  <a:pt x="0" y="735191"/>
                </a:lnTo>
                <a:lnTo>
                  <a:pt x="0" y="0"/>
                </a:lnTo>
                <a:lnTo>
                  <a:pt x="18287885" y="0"/>
                </a:lnTo>
                <a:lnTo>
                  <a:pt x="18287885" y="7351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79537" y="1543559"/>
            <a:ext cx="2897505" cy="8731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550" spc="180" dirty="0">
                <a:solidFill>
                  <a:srgbClr val="F1F0F4"/>
                </a:solidFill>
                <a:latin typeface="Verdana"/>
                <a:cs typeface="Verdana"/>
              </a:rPr>
              <a:t>Product</a:t>
            </a:r>
            <a:endParaRPr sz="55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9537" y="2886954"/>
            <a:ext cx="15720694" cy="920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67310">
              <a:lnSpc>
                <a:spcPct val="136600"/>
              </a:lnSpc>
              <a:spcBef>
                <a:spcPts val="90"/>
              </a:spcBef>
            </a:pP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The</a:t>
            </a:r>
            <a:r>
              <a:rPr sz="2150" spc="-5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site</a:t>
            </a:r>
            <a:r>
              <a:rPr sz="2150" spc="-5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offers</a:t>
            </a:r>
            <a:r>
              <a:rPr sz="2150" spc="-5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a</a:t>
            </a:r>
            <a:r>
              <a:rPr sz="2150" spc="-5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rich</a:t>
            </a:r>
            <a:r>
              <a:rPr sz="215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user</a:t>
            </a:r>
            <a:r>
              <a:rPr sz="2150" spc="-5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experience</a:t>
            </a:r>
            <a:r>
              <a:rPr sz="2150" spc="-5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through</a:t>
            </a:r>
            <a:r>
              <a:rPr sz="2150" spc="-5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robust</a:t>
            </a:r>
            <a:r>
              <a:rPr sz="2150" spc="-5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segmentation.</a:t>
            </a:r>
            <a:r>
              <a:rPr sz="215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Categories</a:t>
            </a:r>
            <a:r>
              <a:rPr sz="2150" spc="-5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include</a:t>
            </a:r>
            <a:r>
              <a:rPr sz="2150" spc="-5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Men,</a:t>
            </a:r>
            <a:r>
              <a:rPr sz="2150" spc="-5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Women,</a:t>
            </a:r>
            <a:r>
              <a:rPr sz="2150" spc="-5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and</a:t>
            </a:r>
            <a:r>
              <a:rPr sz="215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Kids,</a:t>
            </a:r>
            <a:r>
              <a:rPr sz="2150" spc="-5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alongside</a:t>
            </a:r>
            <a:r>
              <a:rPr sz="2150" spc="-5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product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types</a:t>
            </a:r>
            <a:r>
              <a:rPr sz="2150" spc="-8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like</a:t>
            </a:r>
            <a:r>
              <a:rPr sz="21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Topwear,</a:t>
            </a:r>
            <a:r>
              <a:rPr sz="21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Bottomwear,</a:t>
            </a:r>
            <a:r>
              <a:rPr sz="2150" spc="-8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and</a:t>
            </a:r>
            <a:r>
              <a:rPr sz="21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20" dirty="0">
                <a:solidFill>
                  <a:srgbClr val="DBD6E4"/>
                </a:solidFill>
                <a:latin typeface="Tahoma"/>
                <a:cs typeface="Tahoma"/>
              </a:rPr>
              <a:t>Winterwear.</a:t>
            </a:r>
            <a:r>
              <a:rPr sz="21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Navigate</a:t>
            </a:r>
            <a:r>
              <a:rPr sz="2150" spc="-8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effortlessly</a:t>
            </a:r>
            <a:r>
              <a:rPr sz="21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to</a:t>
            </a:r>
            <a:r>
              <a:rPr sz="21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find</a:t>
            </a:r>
            <a:r>
              <a:rPr sz="2150" spc="-8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exactly</a:t>
            </a:r>
            <a:r>
              <a:rPr sz="21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what</a:t>
            </a:r>
            <a:r>
              <a:rPr sz="21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you</a:t>
            </a:r>
            <a:r>
              <a:rPr sz="2150" spc="-8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need.</a:t>
            </a:r>
            <a:endParaRPr sz="21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3528" y="4455169"/>
            <a:ext cx="8963024" cy="397115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0"/>
            <a:ext cx="18286730" cy="894080"/>
            <a:chOff x="0" y="0"/>
            <a:chExt cx="18286730" cy="894080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18286730" cy="894080"/>
            </a:xfrm>
            <a:custGeom>
              <a:avLst/>
              <a:gdLst/>
              <a:ahLst/>
              <a:cxnLst/>
              <a:rect l="l" t="t" r="r" b="b"/>
              <a:pathLst>
                <a:path w="18286730" h="894080">
                  <a:moveTo>
                    <a:pt x="18286728" y="893567"/>
                  </a:moveTo>
                  <a:lnTo>
                    <a:pt x="0" y="893567"/>
                  </a:lnTo>
                  <a:lnTo>
                    <a:pt x="0" y="0"/>
                  </a:lnTo>
                  <a:lnTo>
                    <a:pt x="18286728" y="0"/>
                  </a:lnTo>
                  <a:lnTo>
                    <a:pt x="18286728" y="893567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79915" y="243840"/>
              <a:ext cx="2047874" cy="647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11202"/>
            <a:ext cx="18288000" cy="8821420"/>
          </a:xfrm>
          <a:custGeom>
            <a:avLst/>
            <a:gdLst/>
            <a:ahLst/>
            <a:cxnLst/>
            <a:rect l="l" t="t" r="r" b="b"/>
            <a:pathLst>
              <a:path w="18288000" h="8821420">
                <a:moveTo>
                  <a:pt x="0" y="8821342"/>
                </a:moveTo>
                <a:lnTo>
                  <a:pt x="18288001" y="8821342"/>
                </a:lnTo>
                <a:lnTo>
                  <a:pt x="18288001" y="0"/>
                </a:lnTo>
                <a:lnTo>
                  <a:pt x="0" y="0"/>
                </a:lnTo>
                <a:lnTo>
                  <a:pt x="0" y="8821342"/>
                </a:lnTo>
                <a:close/>
              </a:path>
            </a:pathLst>
          </a:custGeom>
          <a:solidFill>
            <a:srgbClr val="0D092B">
              <a:alpha val="9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2536477"/>
            <a:ext cx="18288000" cy="7750809"/>
            <a:chOff x="0" y="2536477"/>
            <a:chExt cx="18288000" cy="7750809"/>
          </a:xfrm>
        </p:grpSpPr>
        <p:pic>
          <p:nvPicPr>
            <p:cNvPr id="4" name="object 4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49018" y="9686924"/>
              <a:ext cx="2152649" cy="5143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7769" y="2536477"/>
              <a:ext cx="16830674" cy="775052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9551808"/>
              <a:ext cx="18288000" cy="735330"/>
            </a:xfrm>
            <a:custGeom>
              <a:avLst/>
              <a:gdLst/>
              <a:ahLst/>
              <a:cxnLst/>
              <a:rect l="l" t="t" r="r" b="b"/>
              <a:pathLst>
                <a:path w="18288000" h="735329">
                  <a:moveTo>
                    <a:pt x="18287885" y="735191"/>
                  </a:moveTo>
                  <a:lnTo>
                    <a:pt x="0" y="735191"/>
                  </a:lnTo>
                  <a:lnTo>
                    <a:pt x="0" y="0"/>
                  </a:lnTo>
                  <a:lnTo>
                    <a:pt x="18287885" y="0"/>
                  </a:lnTo>
                  <a:lnTo>
                    <a:pt x="18287885" y="73519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15069" y="526617"/>
            <a:ext cx="8204200" cy="644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50" spc="80" dirty="0"/>
              <a:t>Advanced</a:t>
            </a:r>
            <a:r>
              <a:rPr sz="4050" spc="-290" dirty="0"/>
              <a:t> </a:t>
            </a:r>
            <a:r>
              <a:rPr sz="4050" dirty="0"/>
              <a:t>Sorting</a:t>
            </a:r>
            <a:r>
              <a:rPr sz="4050" spc="-285" dirty="0"/>
              <a:t> </a:t>
            </a:r>
            <a:r>
              <a:rPr sz="4050" spc="40" dirty="0"/>
              <a:t>Functionality</a:t>
            </a:r>
            <a:endParaRPr sz="4050"/>
          </a:p>
        </p:txBody>
      </p:sp>
      <p:sp>
        <p:nvSpPr>
          <p:cNvPr id="8" name="object 8"/>
          <p:cNvSpPr txBox="1"/>
          <p:nvPr/>
        </p:nvSpPr>
        <p:spPr>
          <a:xfrm>
            <a:off x="715069" y="1522301"/>
            <a:ext cx="16480155" cy="673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0165">
              <a:lnSpc>
                <a:spcPct val="132800"/>
              </a:lnSpc>
              <a:spcBef>
                <a:spcPts val="95"/>
              </a:spcBef>
            </a:pPr>
            <a:r>
              <a:rPr sz="1600" dirty="0">
                <a:solidFill>
                  <a:srgbClr val="DBD6E4"/>
                </a:solidFill>
                <a:latin typeface="Tahoma"/>
                <a:cs typeface="Tahoma"/>
              </a:rPr>
              <a:t>Enhance</a:t>
            </a:r>
            <a:r>
              <a:rPr sz="1600" spc="-5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DBD6E4"/>
                </a:solidFill>
                <a:latin typeface="Tahoma"/>
                <a:cs typeface="Tahoma"/>
              </a:rPr>
              <a:t>your</a:t>
            </a:r>
            <a:r>
              <a:rPr sz="160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BD6E4"/>
                </a:solidFill>
                <a:latin typeface="Tahoma"/>
                <a:cs typeface="Tahoma"/>
              </a:rPr>
              <a:t>shopping</a:t>
            </a:r>
            <a:r>
              <a:rPr sz="160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BD6E4"/>
                </a:solidFill>
                <a:latin typeface="Tahoma"/>
                <a:cs typeface="Tahoma"/>
              </a:rPr>
              <a:t>with</a:t>
            </a:r>
            <a:r>
              <a:rPr sz="160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BD6E4"/>
                </a:solidFill>
                <a:latin typeface="Tahoma"/>
                <a:cs typeface="Tahoma"/>
              </a:rPr>
              <a:t>our</a:t>
            </a:r>
            <a:r>
              <a:rPr sz="160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DBD6E4"/>
                </a:solidFill>
                <a:latin typeface="Tahoma"/>
                <a:cs typeface="Tahoma"/>
              </a:rPr>
              <a:t>price-</a:t>
            </a:r>
            <a:r>
              <a:rPr sz="1600" dirty="0">
                <a:solidFill>
                  <a:srgbClr val="DBD6E4"/>
                </a:solidFill>
                <a:latin typeface="Tahoma"/>
                <a:cs typeface="Tahoma"/>
              </a:rPr>
              <a:t>based</a:t>
            </a:r>
            <a:r>
              <a:rPr sz="160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DBD6E4"/>
                </a:solidFill>
                <a:latin typeface="Tahoma"/>
                <a:cs typeface="Tahoma"/>
              </a:rPr>
              <a:t>sorting.</a:t>
            </a:r>
            <a:r>
              <a:rPr sz="160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BD6E4"/>
                </a:solidFill>
                <a:latin typeface="Tahoma"/>
                <a:cs typeface="Tahoma"/>
              </a:rPr>
              <a:t>Choose</a:t>
            </a:r>
            <a:r>
              <a:rPr sz="1600" spc="-5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BD6E4"/>
                </a:solidFill>
                <a:latin typeface="Tahoma"/>
                <a:cs typeface="Tahoma"/>
              </a:rPr>
              <a:t>to</a:t>
            </a:r>
            <a:r>
              <a:rPr sz="160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BD6E4"/>
                </a:solidFill>
                <a:latin typeface="Tahoma"/>
                <a:cs typeface="Tahoma"/>
              </a:rPr>
              <a:t>view</a:t>
            </a:r>
            <a:r>
              <a:rPr sz="160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BD6E4"/>
                </a:solidFill>
                <a:latin typeface="Tahoma"/>
                <a:cs typeface="Tahoma"/>
              </a:rPr>
              <a:t>items</a:t>
            </a:r>
            <a:r>
              <a:rPr sz="160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BD6E4"/>
                </a:solidFill>
                <a:latin typeface="Tahoma"/>
                <a:cs typeface="Tahoma"/>
              </a:rPr>
              <a:t>from</a:t>
            </a:r>
            <a:r>
              <a:rPr sz="160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BD6E4"/>
                </a:solidFill>
                <a:latin typeface="Tahoma"/>
                <a:cs typeface="Tahoma"/>
              </a:rPr>
              <a:t>Low</a:t>
            </a:r>
            <a:r>
              <a:rPr sz="160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BD6E4"/>
                </a:solidFill>
                <a:latin typeface="Tahoma"/>
                <a:cs typeface="Tahoma"/>
              </a:rPr>
              <a:t>to</a:t>
            </a:r>
            <a:r>
              <a:rPr sz="160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BD6E4"/>
                </a:solidFill>
                <a:latin typeface="Tahoma"/>
                <a:cs typeface="Tahoma"/>
              </a:rPr>
              <a:t>High</a:t>
            </a:r>
            <a:r>
              <a:rPr sz="160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BD6E4"/>
                </a:solidFill>
                <a:latin typeface="Tahoma"/>
                <a:cs typeface="Tahoma"/>
              </a:rPr>
              <a:t>or</a:t>
            </a:r>
            <a:r>
              <a:rPr sz="1600" spc="-5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BD6E4"/>
                </a:solidFill>
                <a:latin typeface="Tahoma"/>
                <a:cs typeface="Tahoma"/>
              </a:rPr>
              <a:t>High</a:t>
            </a:r>
            <a:r>
              <a:rPr sz="160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BD6E4"/>
                </a:solidFill>
                <a:latin typeface="Tahoma"/>
                <a:cs typeface="Tahoma"/>
              </a:rPr>
              <a:t>to</a:t>
            </a:r>
            <a:r>
              <a:rPr sz="160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BD6E4"/>
                </a:solidFill>
                <a:latin typeface="Tahoma"/>
                <a:cs typeface="Tahoma"/>
              </a:rPr>
              <a:t>Low.</a:t>
            </a:r>
            <a:r>
              <a:rPr sz="160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BD6E4"/>
                </a:solidFill>
                <a:latin typeface="Tahoma"/>
                <a:cs typeface="Tahoma"/>
              </a:rPr>
              <a:t>Find</a:t>
            </a:r>
            <a:r>
              <a:rPr sz="160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DBD6E4"/>
                </a:solidFill>
                <a:latin typeface="Tahoma"/>
                <a:cs typeface="Tahoma"/>
              </a:rPr>
              <a:t>the</a:t>
            </a:r>
            <a:r>
              <a:rPr sz="160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BD6E4"/>
                </a:solidFill>
                <a:latin typeface="Tahoma"/>
                <a:cs typeface="Tahoma"/>
              </a:rPr>
              <a:t>best</a:t>
            </a:r>
            <a:r>
              <a:rPr sz="160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BD6E4"/>
                </a:solidFill>
                <a:latin typeface="Tahoma"/>
                <a:cs typeface="Tahoma"/>
              </a:rPr>
              <a:t>deals</a:t>
            </a:r>
            <a:r>
              <a:rPr sz="1600" spc="-5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DBD6E4"/>
                </a:solidFill>
                <a:latin typeface="Tahoma"/>
                <a:cs typeface="Tahoma"/>
              </a:rPr>
              <a:t>quickly.</a:t>
            </a:r>
            <a:r>
              <a:rPr sz="160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BD6E4"/>
                </a:solidFill>
                <a:latin typeface="Tahoma"/>
                <a:cs typeface="Tahoma"/>
              </a:rPr>
              <a:t>Refine</a:t>
            </a:r>
            <a:r>
              <a:rPr sz="160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DBD6E4"/>
                </a:solidFill>
                <a:latin typeface="Tahoma"/>
                <a:cs typeface="Tahoma"/>
              </a:rPr>
              <a:t>your</a:t>
            </a:r>
            <a:r>
              <a:rPr sz="160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BD6E4"/>
                </a:solidFill>
                <a:latin typeface="Tahoma"/>
                <a:cs typeface="Tahoma"/>
              </a:rPr>
              <a:t>search</a:t>
            </a:r>
            <a:r>
              <a:rPr sz="160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BD6E4"/>
                </a:solidFill>
                <a:latin typeface="Tahoma"/>
                <a:cs typeface="Tahoma"/>
              </a:rPr>
              <a:t>and</a:t>
            </a:r>
            <a:r>
              <a:rPr sz="160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DBD6E4"/>
                </a:solidFill>
                <a:latin typeface="Tahoma"/>
                <a:cs typeface="Tahoma"/>
              </a:rPr>
              <a:t>enjoy</a:t>
            </a:r>
            <a:r>
              <a:rPr sz="160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BD6E4"/>
                </a:solidFill>
                <a:latin typeface="Tahoma"/>
                <a:cs typeface="Tahoma"/>
              </a:rPr>
              <a:t>a</a:t>
            </a:r>
            <a:r>
              <a:rPr sz="160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spc="45" dirty="0">
                <a:solidFill>
                  <a:srgbClr val="DBD6E4"/>
                </a:solidFill>
                <a:latin typeface="Tahoma"/>
                <a:cs typeface="Tahoma"/>
              </a:rPr>
              <a:t>seamless</a:t>
            </a:r>
            <a:r>
              <a:rPr sz="1600" spc="-5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DBD6E4"/>
                </a:solidFill>
                <a:latin typeface="Tahoma"/>
                <a:cs typeface="Tahoma"/>
              </a:rPr>
              <a:t>user </a:t>
            </a:r>
            <a:r>
              <a:rPr sz="1600" spc="-10" dirty="0">
                <a:solidFill>
                  <a:srgbClr val="DBD6E4"/>
                </a:solidFill>
                <a:latin typeface="Tahoma"/>
                <a:cs typeface="Tahoma"/>
              </a:rPr>
              <a:t>experience.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0"/>
            <a:ext cx="18287365" cy="644601"/>
            <a:chOff x="0" y="0"/>
            <a:chExt cx="18287365" cy="730885"/>
          </a:xfrm>
        </p:grpSpPr>
        <p:sp>
          <p:nvSpPr>
            <p:cNvPr id="10" name="object 10"/>
            <p:cNvSpPr/>
            <p:nvPr/>
          </p:nvSpPr>
          <p:spPr>
            <a:xfrm>
              <a:off x="0" y="0"/>
              <a:ext cx="18287365" cy="730885"/>
            </a:xfrm>
            <a:custGeom>
              <a:avLst/>
              <a:gdLst/>
              <a:ahLst/>
              <a:cxnLst/>
              <a:rect l="l" t="t" r="r" b="b"/>
              <a:pathLst>
                <a:path w="18287365" h="730885">
                  <a:moveTo>
                    <a:pt x="18287346" y="730466"/>
                  </a:moveTo>
                  <a:lnTo>
                    <a:pt x="0" y="730466"/>
                  </a:lnTo>
                  <a:lnTo>
                    <a:pt x="0" y="0"/>
                  </a:lnTo>
                  <a:lnTo>
                    <a:pt x="18287346" y="0"/>
                  </a:lnTo>
                  <a:lnTo>
                    <a:pt x="18287346" y="730466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10659" y="80738"/>
              <a:ext cx="2047874" cy="647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00" y="0"/>
              <a:ext cx="6857999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84508" y="3560117"/>
              <a:ext cx="6153110" cy="31622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8286730" cy="894080"/>
            </a:xfrm>
            <a:custGeom>
              <a:avLst/>
              <a:gdLst/>
              <a:ahLst/>
              <a:cxnLst/>
              <a:rect l="l" t="t" r="r" b="b"/>
              <a:pathLst>
                <a:path w="18286730" h="894080">
                  <a:moveTo>
                    <a:pt x="18286728" y="893567"/>
                  </a:moveTo>
                  <a:lnTo>
                    <a:pt x="0" y="893567"/>
                  </a:lnTo>
                  <a:lnTo>
                    <a:pt x="0" y="0"/>
                  </a:lnTo>
                  <a:lnTo>
                    <a:pt x="18286728" y="0"/>
                  </a:lnTo>
                  <a:lnTo>
                    <a:pt x="18286728" y="893567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9551809"/>
              <a:ext cx="18288000" cy="735330"/>
            </a:xfrm>
            <a:custGeom>
              <a:avLst/>
              <a:gdLst/>
              <a:ahLst/>
              <a:cxnLst/>
              <a:rect l="l" t="t" r="r" b="b"/>
              <a:pathLst>
                <a:path w="18288000" h="735329">
                  <a:moveTo>
                    <a:pt x="18287885" y="735191"/>
                  </a:moveTo>
                  <a:lnTo>
                    <a:pt x="0" y="735191"/>
                  </a:lnTo>
                  <a:lnTo>
                    <a:pt x="0" y="0"/>
                  </a:lnTo>
                  <a:lnTo>
                    <a:pt x="18287885" y="0"/>
                  </a:lnTo>
                  <a:lnTo>
                    <a:pt x="18287885" y="73519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79915" y="243840"/>
              <a:ext cx="2047874" cy="64762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79537" y="3314466"/>
            <a:ext cx="7452359" cy="1749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6900"/>
              </a:lnSpc>
            </a:pPr>
            <a:r>
              <a:rPr sz="5550" spc="220" dirty="0">
                <a:solidFill>
                  <a:srgbClr val="F1F0F4"/>
                </a:solidFill>
                <a:latin typeface="Verdana"/>
                <a:cs typeface="Verdana"/>
              </a:rPr>
              <a:t>Admin</a:t>
            </a:r>
            <a:r>
              <a:rPr sz="5550" spc="-484" dirty="0">
                <a:solidFill>
                  <a:srgbClr val="F1F0F4"/>
                </a:solidFill>
                <a:latin typeface="Verdana"/>
                <a:cs typeface="Verdana"/>
              </a:rPr>
              <a:t> </a:t>
            </a:r>
            <a:r>
              <a:rPr sz="5550" spc="175" dirty="0">
                <a:solidFill>
                  <a:srgbClr val="F1F0F4"/>
                </a:solidFill>
                <a:latin typeface="Verdana"/>
                <a:cs typeface="Verdana"/>
              </a:rPr>
              <a:t>Management </a:t>
            </a:r>
            <a:r>
              <a:rPr sz="5550" spc="-10" dirty="0">
                <a:solidFill>
                  <a:srgbClr val="F1F0F4"/>
                </a:solidFill>
                <a:latin typeface="Verdana"/>
                <a:cs typeface="Verdana"/>
              </a:rPr>
              <a:t>Interface</a:t>
            </a:r>
            <a:endParaRPr sz="55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9537" y="5402002"/>
            <a:ext cx="9246235" cy="13684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67310">
              <a:lnSpc>
                <a:spcPct val="136600"/>
              </a:lnSpc>
              <a:spcBef>
                <a:spcPts val="90"/>
              </a:spcBef>
            </a:pP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The</a:t>
            </a:r>
            <a:r>
              <a:rPr sz="2150" spc="-1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admin</a:t>
            </a:r>
            <a:r>
              <a:rPr sz="2150" spc="-1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interface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allows</a:t>
            </a:r>
            <a:r>
              <a:rPr sz="2150" spc="-1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centralized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product</a:t>
            </a:r>
            <a:r>
              <a:rPr sz="2150" spc="-1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and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20" dirty="0">
                <a:solidFill>
                  <a:srgbClr val="DBD6E4"/>
                </a:solidFill>
                <a:latin typeface="Tahoma"/>
                <a:cs typeface="Tahoma"/>
              </a:rPr>
              <a:t>inventory</a:t>
            </a:r>
            <a:r>
              <a:rPr sz="2150" spc="-1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management. </a:t>
            </a:r>
            <a:r>
              <a:rPr sz="2150" spc="-20" dirty="0">
                <a:solidFill>
                  <a:srgbClr val="DBD6E4"/>
                </a:solidFill>
                <a:latin typeface="Tahoma"/>
                <a:cs typeface="Tahoma"/>
              </a:rPr>
              <a:t>Enjoy</a:t>
            </a:r>
            <a:r>
              <a:rPr sz="2150" spc="-7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full</a:t>
            </a:r>
            <a:r>
              <a:rPr sz="2150" spc="-5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control</a:t>
            </a:r>
            <a:r>
              <a:rPr sz="2150" spc="-5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over</a:t>
            </a:r>
            <a:r>
              <a:rPr sz="2150" spc="-5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content</a:t>
            </a:r>
            <a:r>
              <a:rPr sz="2150" spc="-5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updates.</a:t>
            </a:r>
            <a:r>
              <a:rPr sz="2150" spc="-5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Benefit</a:t>
            </a:r>
            <a:r>
              <a:rPr sz="2150" spc="-5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from</a:t>
            </a:r>
            <a:r>
              <a:rPr sz="2150" spc="-5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secure</a:t>
            </a:r>
            <a:r>
              <a:rPr sz="2150" spc="-5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administrative </a:t>
            </a:r>
            <a:r>
              <a:rPr sz="2150" spc="45" dirty="0">
                <a:solidFill>
                  <a:srgbClr val="DBD6E4"/>
                </a:solidFill>
                <a:latin typeface="Tahoma"/>
                <a:cs typeface="Tahoma"/>
              </a:rPr>
              <a:t>access,</a:t>
            </a:r>
            <a:r>
              <a:rPr sz="2150" spc="-4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streamlining</a:t>
            </a:r>
            <a:r>
              <a:rPr sz="2150" spc="-4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your</a:t>
            </a:r>
            <a:r>
              <a:rPr sz="2150" spc="-4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workflow</a:t>
            </a:r>
            <a:r>
              <a:rPr sz="2150" spc="-4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efficiently.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857999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4359" y="2931021"/>
              <a:ext cx="6153097" cy="44291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8286730" cy="894080"/>
            </a:xfrm>
            <a:custGeom>
              <a:avLst/>
              <a:gdLst/>
              <a:ahLst/>
              <a:cxnLst/>
              <a:rect l="l" t="t" r="r" b="b"/>
              <a:pathLst>
                <a:path w="18286730" h="894080">
                  <a:moveTo>
                    <a:pt x="18286728" y="893567"/>
                  </a:moveTo>
                  <a:lnTo>
                    <a:pt x="0" y="893567"/>
                  </a:lnTo>
                  <a:lnTo>
                    <a:pt x="0" y="0"/>
                  </a:lnTo>
                  <a:lnTo>
                    <a:pt x="18286728" y="0"/>
                  </a:lnTo>
                  <a:lnTo>
                    <a:pt x="18286728" y="893567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9551809"/>
              <a:ext cx="18288000" cy="735330"/>
            </a:xfrm>
            <a:custGeom>
              <a:avLst/>
              <a:gdLst/>
              <a:ahLst/>
              <a:cxnLst/>
              <a:rect l="l" t="t" r="r" b="b"/>
              <a:pathLst>
                <a:path w="18288000" h="735329">
                  <a:moveTo>
                    <a:pt x="18287885" y="735191"/>
                  </a:moveTo>
                  <a:lnTo>
                    <a:pt x="0" y="735191"/>
                  </a:lnTo>
                  <a:lnTo>
                    <a:pt x="0" y="0"/>
                  </a:lnTo>
                  <a:lnTo>
                    <a:pt x="18287885" y="0"/>
                  </a:lnTo>
                  <a:lnTo>
                    <a:pt x="18287885" y="73519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79915" y="243840"/>
              <a:ext cx="2047874" cy="647623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6900"/>
              </a:lnSpc>
            </a:pPr>
            <a:r>
              <a:rPr dirty="0"/>
              <a:t>User</a:t>
            </a:r>
            <a:r>
              <a:rPr spc="-470" dirty="0"/>
              <a:t> </a:t>
            </a:r>
            <a:r>
              <a:rPr spc="95" dirty="0"/>
              <a:t>Authentication </a:t>
            </a:r>
            <a:r>
              <a:rPr spc="-10" dirty="0"/>
              <a:t>System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67310">
              <a:lnSpc>
                <a:spcPct val="136600"/>
              </a:lnSpc>
              <a:spcBef>
                <a:spcPts val="90"/>
              </a:spcBef>
            </a:pP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Secure</a:t>
            </a:r>
            <a:r>
              <a:rPr sz="2150" spc="-6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user</a:t>
            </a:r>
            <a:r>
              <a:rPr sz="2150" spc="-6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55" dirty="0">
                <a:solidFill>
                  <a:srgbClr val="DBD6E4"/>
                </a:solidFill>
                <a:latin typeface="Tahoma"/>
                <a:cs typeface="Tahoma"/>
              </a:rPr>
              <a:t>accounts</a:t>
            </a:r>
            <a:r>
              <a:rPr sz="2150" spc="-5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are</a:t>
            </a:r>
            <a:r>
              <a:rPr sz="2150" spc="-6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managed</a:t>
            </a:r>
            <a:r>
              <a:rPr sz="2150" spc="-6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through</a:t>
            </a:r>
            <a:r>
              <a:rPr sz="2150" spc="-5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robust</a:t>
            </a:r>
            <a:r>
              <a:rPr sz="2150" spc="-6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sign-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up</a:t>
            </a:r>
            <a:r>
              <a:rPr sz="2150" spc="-6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and</a:t>
            </a:r>
            <a:r>
              <a:rPr sz="2150" spc="-5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sign-</a:t>
            </a:r>
            <a:r>
              <a:rPr sz="2150" spc="-25" dirty="0">
                <a:solidFill>
                  <a:srgbClr val="DBD6E4"/>
                </a:solidFill>
                <a:latin typeface="Tahoma"/>
                <a:cs typeface="Tahoma"/>
              </a:rPr>
              <a:t>in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features.</a:t>
            </a:r>
            <a:r>
              <a:rPr sz="2150" spc="-7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Data</a:t>
            </a:r>
            <a:r>
              <a:rPr sz="2150" spc="-7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protection</a:t>
            </a:r>
            <a:r>
              <a:rPr sz="2150" spc="-6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and</a:t>
            </a:r>
            <a:r>
              <a:rPr sz="2150" spc="-7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privacy</a:t>
            </a:r>
            <a:r>
              <a:rPr sz="2150" spc="-7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are</a:t>
            </a:r>
            <a:r>
              <a:rPr sz="2150" spc="-6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55" dirty="0">
                <a:solidFill>
                  <a:srgbClr val="DBD6E4"/>
                </a:solidFill>
                <a:latin typeface="Tahoma"/>
                <a:cs typeface="Tahoma"/>
              </a:rPr>
              <a:t>key.</a:t>
            </a:r>
            <a:r>
              <a:rPr sz="2150" spc="-7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20" dirty="0">
                <a:solidFill>
                  <a:srgbClr val="DBD6E4"/>
                </a:solidFill>
                <a:latin typeface="Tahoma"/>
                <a:cs typeface="Tahoma"/>
              </a:rPr>
              <a:t>Enjoy</a:t>
            </a:r>
            <a:r>
              <a:rPr sz="2150" spc="-6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personalized</a:t>
            </a:r>
            <a:r>
              <a:rPr sz="2150" spc="-7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shopping experiences,</a:t>
            </a:r>
            <a:r>
              <a:rPr sz="2150" spc="-114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tailored</a:t>
            </a:r>
            <a:r>
              <a:rPr sz="2150" spc="-114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to</a:t>
            </a:r>
            <a:r>
              <a:rPr sz="2150" spc="-114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your</a:t>
            </a:r>
            <a:r>
              <a:rPr sz="2150" spc="-11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needs.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93567"/>
            <a:ext cx="18288000" cy="8658860"/>
          </a:xfrm>
          <a:custGeom>
            <a:avLst/>
            <a:gdLst/>
            <a:ahLst/>
            <a:cxnLst/>
            <a:rect l="l" t="t" r="r" b="b"/>
            <a:pathLst>
              <a:path w="18288000" h="8658860">
                <a:moveTo>
                  <a:pt x="0" y="8658240"/>
                </a:moveTo>
                <a:lnTo>
                  <a:pt x="18287998" y="8658240"/>
                </a:lnTo>
                <a:lnTo>
                  <a:pt x="18287998" y="0"/>
                </a:lnTo>
                <a:lnTo>
                  <a:pt x="0" y="0"/>
                </a:lnTo>
                <a:lnTo>
                  <a:pt x="0" y="8658240"/>
                </a:lnTo>
                <a:close/>
              </a:path>
            </a:pathLst>
          </a:custGeom>
          <a:solidFill>
            <a:srgbClr val="0D092B">
              <a:alpha val="9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3256955"/>
            <a:ext cx="18288000" cy="7030084"/>
            <a:chOff x="0" y="3256955"/>
            <a:chExt cx="18288000" cy="7030084"/>
          </a:xfrm>
        </p:grpSpPr>
        <p:pic>
          <p:nvPicPr>
            <p:cNvPr id="4" name="object 4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49018" y="9686925"/>
              <a:ext cx="2152649" cy="5143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4342" y="3256955"/>
              <a:ext cx="16421099" cy="673417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9551808"/>
              <a:ext cx="18288000" cy="735330"/>
            </a:xfrm>
            <a:custGeom>
              <a:avLst/>
              <a:gdLst/>
              <a:ahLst/>
              <a:cxnLst/>
              <a:rect l="l" t="t" r="r" b="b"/>
              <a:pathLst>
                <a:path w="18288000" h="735329">
                  <a:moveTo>
                    <a:pt x="18287885" y="735191"/>
                  </a:moveTo>
                  <a:lnTo>
                    <a:pt x="0" y="735191"/>
                  </a:lnTo>
                  <a:lnTo>
                    <a:pt x="0" y="0"/>
                  </a:lnTo>
                  <a:lnTo>
                    <a:pt x="18287885" y="0"/>
                  </a:lnTo>
                  <a:lnTo>
                    <a:pt x="18287885" y="73519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832" rIns="0" bIns="0" rtlCol="0">
            <a:spAutoFit/>
          </a:bodyPr>
          <a:lstStyle/>
          <a:p>
            <a:pPr marL="219075">
              <a:lnSpc>
                <a:spcPct val="100000"/>
              </a:lnSpc>
              <a:spcBef>
                <a:spcPts val="100"/>
              </a:spcBef>
            </a:pPr>
            <a:r>
              <a:rPr sz="5250" spc="110" dirty="0"/>
              <a:t>Website</a:t>
            </a:r>
            <a:r>
              <a:rPr sz="5250" spc="-459" dirty="0"/>
              <a:t> </a:t>
            </a:r>
            <a:r>
              <a:rPr sz="5250" spc="40" dirty="0"/>
              <a:t>Navigation</a:t>
            </a:r>
            <a:endParaRPr sz="5250"/>
          </a:p>
        </p:txBody>
      </p:sp>
      <p:sp>
        <p:nvSpPr>
          <p:cNvPr id="8" name="object 8"/>
          <p:cNvSpPr txBox="1"/>
          <p:nvPr/>
        </p:nvSpPr>
        <p:spPr>
          <a:xfrm>
            <a:off x="921642" y="1955502"/>
            <a:ext cx="15898494" cy="863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3500">
              <a:lnSpc>
                <a:spcPct val="134100"/>
              </a:lnSpc>
              <a:spcBef>
                <a:spcPts val="95"/>
              </a:spcBef>
            </a:pPr>
            <a:r>
              <a:rPr sz="2050" spc="60" dirty="0">
                <a:solidFill>
                  <a:srgbClr val="DBD6E4"/>
                </a:solidFill>
                <a:latin typeface="Tahoma"/>
                <a:cs typeface="Tahoma"/>
              </a:rPr>
              <a:t>A</a:t>
            </a:r>
            <a:r>
              <a:rPr sz="20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050" dirty="0">
                <a:solidFill>
                  <a:srgbClr val="DBD6E4"/>
                </a:solidFill>
                <a:latin typeface="Tahoma"/>
                <a:cs typeface="Tahoma"/>
              </a:rPr>
              <a:t>clear</a:t>
            </a:r>
            <a:r>
              <a:rPr sz="20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050" dirty="0">
                <a:solidFill>
                  <a:srgbClr val="DBD6E4"/>
                </a:solidFill>
                <a:latin typeface="Tahoma"/>
                <a:cs typeface="Tahoma"/>
              </a:rPr>
              <a:t>and</a:t>
            </a:r>
            <a:r>
              <a:rPr sz="20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050" spc="-20" dirty="0">
                <a:solidFill>
                  <a:srgbClr val="DBD6E4"/>
                </a:solidFill>
                <a:latin typeface="Tahoma"/>
                <a:cs typeface="Tahoma"/>
              </a:rPr>
              <a:t>intuitive</a:t>
            </a:r>
            <a:r>
              <a:rPr sz="20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050" dirty="0">
                <a:solidFill>
                  <a:srgbClr val="DBD6E4"/>
                </a:solidFill>
                <a:latin typeface="Tahoma"/>
                <a:cs typeface="Tahoma"/>
              </a:rPr>
              <a:t>site</a:t>
            </a:r>
            <a:r>
              <a:rPr sz="20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050" dirty="0">
                <a:solidFill>
                  <a:srgbClr val="DBD6E4"/>
                </a:solidFill>
                <a:latin typeface="Tahoma"/>
                <a:cs typeface="Tahoma"/>
              </a:rPr>
              <a:t>structure</a:t>
            </a:r>
            <a:r>
              <a:rPr sz="20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050" dirty="0">
                <a:solidFill>
                  <a:srgbClr val="DBD6E4"/>
                </a:solidFill>
                <a:latin typeface="Tahoma"/>
                <a:cs typeface="Tahoma"/>
              </a:rPr>
              <a:t>makes</a:t>
            </a:r>
            <a:r>
              <a:rPr sz="20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050" spc="-20" dirty="0">
                <a:solidFill>
                  <a:srgbClr val="DBD6E4"/>
                </a:solidFill>
                <a:latin typeface="Tahoma"/>
                <a:cs typeface="Tahoma"/>
              </a:rPr>
              <a:t>the</a:t>
            </a:r>
            <a:r>
              <a:rPr sz="20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050" dirty="0">
                <a:solidFill>
                  <a:srgbClr val="DBD6E4"/>
                </a:solidFill>
                <a:latin typeface="Tahoma"/>
                <a:cs typeface="Tahoma"/>
              </a:rPr>
              <a:t>navigation</a:t>
            </a:r>
            <a:r>
              <a:rPr sz="20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050" dirty="0">
                <a:solidFill>
                  <a:srgbClr val="DBD6E4"/>
                </a:solidFill>
                <a:latin typeface="Tahoma"/>
                <a:cs typeface="Tahoma"/>
              </a:rPr>
              <a:t>a</a:t>
            </a:r>
            <a:r>
              <a:rPr sz="20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050" spc="-25" dirty="0">
                <a:solidFill>
                  <a:srgbClr val="DBD6E4"/>
                </a:solidFill>
                <a:latin typeface="Tahoma"/>
                <a:cs typeface="Tahoma"/>
              </a:rPr>
              <a:t>breeze.</a:t>
            </a:r>
            <a:r>
              <a:rPr sz="20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050" spc="90" dirty="0">
                <a:solidFill>
                  <a:srgbClr val="DBD6E4"/>
                </a:solidFill>
                <a:latin typeface="Tahoma"/>
                <a:cs typeface="Tahoma"/>
              </a:rPr>
              <a:t>Access</a:t>
            </a:r>
            <a:r>
              <a:rPr sz="2050" spc="-7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050" dirty="0">
                <a:solidFill>
                  <a:srgbClr val="DBD6E4"/>
                </a:solidFill>
                <a:latin typeface="Tahoma"/>
                <a:cs typeface="Tahoma"/>
              </a:rPr>
              <a:t>essential</a:t>
            </a:r>
            <a:r>
              <a:rPr sz="20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050" dirty="0">
                <a:solidFill>
                  <a:srgbClr val="DBD6E4"/>
                </a:solidFill>
                <a:latin typeface="Tahoma"/>
                <a:cs typeface="Tahoma"/>
              </a:rPr>
              <a:t>information</a:t>
            </a:r>
            <a:r>
              <a:rPr sz="20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050" spc="-10" dirty="0">
                <a:solidFill>
                  <a:srgbClr val="DBD6E4"/>
                </a:solidFill>
                <a:latin typeface="Tahoma"/>
                <a:cs typeface="Tahoma"/>
              </a:rPr>
              <a:t>via</a:t>
            </a:r>
            <a:r>
              <a:rPr sz="20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050" spc="-20" dirty="0">
                <a:solidFill>
                  <a:srgbClr val="DBD6E4"/>
                </a:solidFill>
                <a:latin typeface="Tahoma"/>
                <a:cs typeface="Tahoma"/>
              </a:rPr>
              <a:t>the</a:t>
            </a:r>
            <a:r>
              <a:rPr sz="20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050" dirty="0">
                <a:solidFill>
                  <a:srgbClr val="DBD6E4"/>
                </a:solidFill>
                <a:latin typeface="Tahoma"/>
                <a:cs typeface="Tahoma"/>
              </a:rPr>
              <a:t>About</a:t>
            </a:r>
            <a:r>
              <a:rPr sz="20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050" dirty="0">
                <a:solidFill>
                  <a:srgbClr val="DBD6E4"/>
                </a:solidFill>
                <a:latin typeface="Tahoma"/>
                <a:cs typeface="Tahoma"/>
              </a:rPr>
              <a:t>and</a:t>
            </a:r>
            <a:r>
              <a:rPr sz="20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050" dirty="0">
                <a:solidFill>
                  <a:srgbClr val="DBD6E4"/>
                </a:solidFill>
                <a:latin typeface="Tahoma"/>
                <a:cs typeface="Tahoma"/>
              </a:rPr>
              <a:t>Contact</a:t>
            </a:r>
            <a:r>
              <a:rPr sz="20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050" dirty="0">
                <a:solidFill>
                  <a:srgbClr val="DBD6E4"/>
                </a:solidFill>
                <a:latin typeface="Tahoma"/>
                <a:cs typeface="Tahoma"/>
              </a:rPr>
              <a:t>pages.</a:t>
            </a:r>
            <a:r>
              <a:rPr sz="20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050" dirty="0">
                <a:solidFill>
                  <a:srgbClr val="DBD6E4"/>
                </a:solidFill>
                <a:latin typeface="Tahoma"/>
                <a:cs typeface="Tahoma"/>
              </a:rPr>
              <a:t>The</a:t>
            </a:r>
            <a:r>
              <a:rPr sz="2050" spc="-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050" spc="-10" dirty="0">
                <a:solidFill>
                  <a:srgbClr val="DBD6E4"/>
                </a:solidFill>
                <a:latin typeface="Tahoma"/>
                <a:cs typeface="Tahoma"/>
              </a:rPr>
              <a:t>site's </a:t>
            </a:r>
            <a:r>
              <a:rPr sz="2050" dirty="0">
                <a:solidFill>
                  <a:srgbClr val="DBD6E4"/>
                </a:solidFill>
                <a:latin typeface="Tahoma"/>
                <a:cs typeface="Tahoma"/>
              </a:rPr>
              <a:t>design</a:t>
            </a:r>
            <a:r>
              <a:rPr sz="2050" spc="-7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050" dirty="0">
                <a:solidFill>
                  <a:srgbClr val="DBD6E4"/>
                </a:solidFill>
                <a:latin typeface="Tahoma"/>
                <a:cs typeface="Tahoma"/>
              </a:rPr>
              <a:t>ensures</a:t>
            </a:r>
            <a:r>
              <a:rPr sz="2050" spc="-7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050" dirty="0">
                <a:solidFill>
                  <a:srgbClr val="DBD6E4"/>
                </a:solidFill>
                <a:latin typeface="Tahoma"/>
                <a:cs typeface="Tahoma"/>
              </a:rPr>
              <a:t>easy</a:t>
            </a:r>
            <a:r>
              <a:rPr sz="2050" spc="-7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050" spc="75" dirty="0">
                <a:solidFill>
                  <a:srgbClr val="DBD6E4"/>
                </a:solidFill>
                <a:latin typeface="Tahoma"/>
                <a:cs typeface="Tahoma"/>
              </a:rPr>
              <a:t>access</a:t>
            </a:r>
            <a:r>
              <a:rPr sz="2050" spc="-7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050" dirty="0">
                <a:solidFill>
                  <a:srgbClr val="DBD6E4"/>
                </a:solidFill>
                <a:latin typeface="Tahoma"/>
                <a:cs typeface="Tahoma"/>
              </a:rPr>
              <a:t>to</a:t>
            </a:r>
            <a:r>
              <a:rPr sz="2050" spc="-7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050" spc="-40" dirty="0">
                <a:solidFill>
                  <a:srgbClr val="DBD6E4"/>
                </a:solidFill>
                <a:latin typeface="Tahoma"/>
                <a:cs typeface="Tahoma"/>
              </a:rPr>
              <a:t>key</a:t>
            </a:r>
            <a:r>
              <a:rPr sz="2050" spc="-7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050" spc="-10" dirty="0">
                <a:solidFill>
                  <a:srgbClr val="DBD6E4"/>
                </a:solidFill>
                <a:latin typeface="Tahoma"/>
                <a:cs typeface="Tahoma"/>
              </a:rPr>
              <a:t>details.</a:t>
            </a:r>
            <a:endParaRPr sz="205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0"/>
            <a:ext cx="18286730" cy="894080"/>
            <a:chOff x="0" y="0"/>
            <a:chExt cx="18286730" cy="894080"/>
          </a:xfrm>
        </p:grpSpPr>
        <p:sp>
          <p:nvSpPr>
            <p:cNvPr id="10" name="object 10"/>
            <p:cNvSpPr/>
            <p:nvPr/>
          </p:nvSpPr>
          <p:spPr>
            <a:xfrm>
              <a:off x="0" y="0"/>
              <a:ext cx="18286730" cy="894080"/>
            </a:xfrm>
            <a:custGeom>
              <a:avLst/>
              <a:gdLst/>
              <a:ahLst/>
              <a:cxnLst/>
              <a:rect l="l" t="t" r="r" b="b"/>
              <a:pathLst>
                <a:path w="18286730" h="894080">
                  <a:moveTo>
                    <a:pt x="18286728" y="893567"/>
                  </a:moveTo>
                  <a:lnTo>
                    <a:pt x="0" y="893567"/>
                  </a:lnTo>
                  <a:lnTo>
                    <a:pt x="0" y="0"/>
                  </a:lnTo>
                  <a:lnTo>
                    <a:pt x="18286728" y="0"/>
                  </a:lnTo>
                  <a:lnTo>
                    <a:pt x="18286728" y="893567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79915" y="243840"/>
              <a:ext cx="2047874" cy="647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551809"/>
            <a:ext cx="18288000" cy="735330"/>
          </a:xfrm>
          <a:custGeom>
            <a:avLst/>
            <a:gdLst/>
            <a:ahLst/>
            <a:cxnLst/>
            <a:rect l="l" t="t" r="r" b="b"/>
            <a:pathLst>
              <a:path w="18288000" h="735329">
                <a:moveTo>
                  <a:pt x="18287885" y="735191"/>
                </a:moveTo>
                <a:lnTo>
                  <a:pt x="0" y="735191"/>
                </a:lnTo>
                <a:lnTo>
                  <a:pt x="0" y="0"/>
                </a:lnTo>
                <a:lnTo>
                  <a:pt x="18287885" y="0"/>
                </a:lnTo>
                <a:lnTo>
                  <a:pt x="18287885" y="7351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79537" y="1827076"/>
            <a:ext cx="11060430" cy="8731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550" spc="110" dirty="0">
                <a:solidFill>
                  <a:srgbClr val="F1F0F4"/>
                </a:solidFill>
                <a:latin typeface="Verdana"/>
                <a:cs typeface="Verdana"/>
              </a:rPr>
              <a:t>Future</a:t>
            </a:r>
            <a:r>
              <a:rPr sz="5550" spc="-455" dirty="0">
                <a:solidFill>
                  <a:srgbClr val="F1F0F4"/>
                </a:solidFill>
                <a:latin typeface="Verdana"/>
                <a:cs typeface="Verdana"/>
              </a:rPr>
              <a:t> </a:t>
            </a:r>
            <a:r>
              <a:rPr sz="5550" spc="-20" dirty="0">
                <a:solidFill>
                  <a:srgbClr val="F1F0F4"/>
                </a:solidFill>
                <a:latin typeface="Verdana"/>
                <a:cs typeface="Verdana"/>
              </a:rPr>
              <a:t>Development:</a:t>
            </a:r>
            <a:r>
              <a:rPr sz="5550" spc="-455" dirty="0">
                <a:solidFill>
                  <a:srgbClr val="F1F0F4"/>
                </a:solidFill>
                <a:latin typeface="Verdana"/>
                <a:cs typeface="Verdana"/>
              </a:rPr>
              <a:t> </a:t>
            </a:r>
            <a:r>
              <a:rPr sz="5550" spc="140" dirty="0">
                <a:solidFill>
                  <a:srgbClr val="F1F0F4"/>
                </a:solidFill>
                <a:latin typeface="Verdana"/>
                <a:cs typeface="Verdana"/>
              </a:rPr>
              <a:t>Payment</a:t>
            </a:r>
            <a:endParaRPr sz="55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9537" y="3170471"/>
            <a:ext cx="15807690" cy="920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67310">
              <a:lnSpc>
                <a:spcPct val="136600"/>
              </a:lnSpc>
              <a:spcBef>
                <a:spcPts val="90"/>
              </a:spcBef>
            </a:pP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Planned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integration</a:t>
            </a:r>
            <a:r>
              <a:rPr sz="2150" spc="-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includes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secure</a:t>
            </a:r>
            <a:r>
              <a:rPr sz="2150" spc="-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payment</a:t>
            </a:r>
            <a:r>
              <a:rPr sz="2150" spc="-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systems.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Expect</a:t>
            </a:r>
            <a:r>
              <a:rPr sz="2150" spc="-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multiple</a:t>
            </a:r>
            <a:r>
              <a:rPr sz="2150" spc="-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payment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methods</a:t>
            </a:r>
            <a:r>
              <a:rPr sz="2150" spc="-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for</a:t>
            </a:r>
            <a:r>
              <a:rPr sz="2150" spc="-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user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convenience.</a:t>
            </a:r>
            <a:r>
              <a:rPr sz="2150" spc="-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Look</a:t>
            </a:r>
            <a:r>
              <a:rPr sz="2150" spc="-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forward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to</a:t>
            </a:r>
            <a:r>
              <a:rPr sz="2150" spc="-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50" dirty="0">
                <a:solidFill>
                  <a:srgbClr val="DBD6E4"/>
                </a:solidFill>
                <a:latin typeface="Tahoma"/>
                <a:cs typeface="Tahoma"/>
              </a:rPr>
              <a:t>a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streamlined</a:t>
            </a:r>
            <a:r>
              <a:rPr sz="2150" spc="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checkout</a:t>
            </a:r>
            <a:r>
              <a:rPr sz="2150" spc="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process,</a:t>
            </a:r>
            <a:r>
              <a:rPr sz="2150" spc="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making</a:t>
            </a:r>
            <a:r>
              <a:rPr sz="2150" spc="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purchasing</a:t>
            </a:r>
            <a:r>
              <a:rPr sz="2150" spc="8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easy.</a:t>
            </a:r>
            <a:endParaRPr sz="21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2746" y="4738687"/>
            <a:ext cx="3400424" cy="340042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0"/>
            <a:ext cx="18286730" cy="894080"/>
            <a:chOff x="0" y="0"/>
            <a:chExt cx="18286730" cy="894080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18286730" cy="894080"/>
            </a:xfrm>
            <a:custGeom>
              <a:avLst/>
              <a:gdLst/>
              <a:ahLst/>
              <a:cxnLst/>
              <a:rect l="l" t="t" r="r" b="b"/>
              <a:pathLst>
                <a:path w="18286730" h="894080">
                  <a:moveTo>
                    <a:pt x="18286728" y="893567"/>
                  </a:moveTo>
                  <a:lnTo>
                    <a:pt x="0" y="893567"/>
                  </a:lnTo>
                  <a:lnTo>
                    <a:pt x="0" y="0"/>
                  </a:lnTo>
                  <a:lnTo>
                    <a:pt x="18286728" y="0"/>
                  </a:lnTo>
                  <a:lnTo>
                    <a:pt x="18286728" y="893567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79915" y="243840"/>
              <a:ext cx="2047874" cy="647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7373" rIns="0" bIns="0" rtlCol="0">
            <a:spAutoFit/>
          </a:bodyPr>
          <a:lstStyle/>
          <a:p>
            <a:pPr marL="276860">
              <a:lnSpc>
                <a:spcPct val="100000"/>
              </a:lnSpc>
              <a:spcBef>
                <a:spcPts val="110"/>
              </a:spcBef>
            </a:pPr>
            <a:r>
              <a:rPr spc="60" dirty="0"/>
              <a:t>Tech</a:t>
            </a:r>
            <a:r>
              <a:rPr spc="-480" dirty="0"/>
              <a:t> </a:t>
            </a:r>
            <a:r>
              <a:rPr spc="-10" dirty="0"/>
              <a:t>Stack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9537" y="2164371"/>
            <a:ext cx="2030730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b="1" u="heavy" spc="-95" dirty="0">
                <a:solidFill>
                  <a:srgbClr val="F1F0F4"/>
                </a:solidFill>
                <a:uFill>
                  <a:solidFill>
                    <a:srgbClr val="F1F0F4"/>
                  </a:solidFill>
                </a:uFill>
                <a:latin typeface="Verdana"/>
                <a:cs typeface="Verdana"/>
              </a:rPr>
              <a:t>Frontend</a:t>
            </a:r>
            <a:r>
              <a:rPr sz="2750" b="1" u="heavy" spc="-114" dirty="0">
                <a:solidFill>
                  <a:srgbClr val="F1F0F4"/>
                </a:solidFill>
                <a:uFill>
                  <a:solidFill>
                    <a:srgbClr val="F1F0F4"/>
                  </a:solidFill>
                </a:uFill>
                <a:latin typeface="Verdana"/>
                <a:cs typeface="Verdana"/>
              </a:rPr>
              <a:t> </a:t>
            </a:r>
            <a:r>
              <a:rPr sz="2750" spc="-465" dirty="0">
                <a:solidFill>
                  <a:srgbClr val="F1F0F4"/>
                </a:solidFill>
                <a:latin typeface="Verdana"/>
                <a:cs typeface="Verdana"/>
              </a:rPr>
              <a:t>:-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64711" y="2164371"/>
            <a:ext cx="1954530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b="1" u="heavy" spc="-60" dirty="0">
                <a:solidFill>
                  <a:srgbClr val="F1F0F4"/>
                </a:solidFill>
                <a:uFill>
                  <a:solidFill>
                    <a:srgbClr val="F1F0F4"/>
                  </a:solidFill>
                </a:uFill>
                <a:latin typeface="Verdana"/>
                <a:cs typeface="Verdana"/>
              </a:rPr>
              <a:t>Backend</a:t>
            </a:r>
            <a:r>
              <a:rPr sz="2750" b="1" u="heavy" spc="-170" dirty="0">
                <a:solidFill>
                  <a:srgbClr val="F1F0F4"/>
                </a:solidFill>
                <a:uFill>
                  <a:solidFill>
                    <a:srgbClr val="F1F0F4"/>
                  </a:solidFill>
                </a:uFill>
                <a:latin typeface="Verdana"/>
                <a:cs typeface="Verdana"/>
              </a:rPr>
              <a:t> </a:t>
            </a:r>
            <a:r>
              <a:rPr sz="2750" spc="-465" dirty="0">
                <a:solidFill>
                  <a:srgbClr val="F1F0F4"/>
                </a:solidFill>
                <a:latin typeface="Verdana"/>
                <a:cs typeface="Verdana"/>
              </a:rPr>
              <a:t>:-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2165" y="3034072"/>
            <a:ext cx="1878330" cy="31229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dirty="0">
                <a:solidFill>
                  <a:srgbClr val="DBD6E4"/>
                </a:solidFill>
                <a:latin typeface="Yu Gothic"/>
                <a:cs typeface="Yu Gothic"/>
              </a:rPr>
              <a:t>1.</a:t>
            </a:r>
            <a:r>
              <a:rPr sz="2150" spc="-350" dirty="0">
                <a:solidFill>
                  <a:srgbClr val="DBD6E4"/>
                </a:solidFill>
                <a:latin typeface="Yu Gothic"/>
                <a:cs typeface="Yu Gothic"/>
              </a:rPr>
              <a:t> </a:t>
            </a:r>
            <a:r>
              <a:rPr sz="2150" spc="75" dirty="0">
                <a:solidFill>
                  <a:srgbClr val="DBD6E4"/>
                </a:solidFill>
                <a:latin typeface="Tahoma"/>
                <a:cs typeface="Tahoma"/>
              </a:rPr>
              <a:t>HTML5</a:t>
            </a:r>
            <a:endParaRPr sz="2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75"/>
              </a:spcBef>
            </a:pPr>
            <a:r>
              <a:rPr sz="2150" dirty="0">
                <a:solidFill>
                  <a:srgbClr val="DBD6E4"/>
                </a:solidFill>
                <a:latin typeface="Yu Gothic"/>
                <a:cs typeface="Yu Gothic"/>
              </a:rPr>
              <a:t>1.</a:t>
            </a:r>
            <a:r>
              <a:rPr sz="2150" spc="-350" dirty="0">
                <a:solidFill>
                  <a:srgbClr val="DBD6E4"/>
                </a:solidFill>
                <a:latin typeface="Yu Gothic"/>
                <a:cs typeface="Yu Gothic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Tailwind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70" dirty="0">
                <a:solidFill>
                  <a:srgbClr val="DBD6E4"/>
                </a:solidFill>
                <a:latin typeface="Tahoma"/>
                <a:cs typeface="Tahoma"/>
              </a:rPr>
              <a:t>CSS</a:t>
            </a:r>
            <a:endParaRPr sz="2150">
              <a:latin typeface="Tahoma"/>
              <a:cs typeface="Tahoma"/>
            </a:endParaRPr>
          </a:p>
          <a:p>
            <a:pPr marL="12700" marR="332740">
              <a:lnSpc>
                <a:spcPct val="168700"/>
              </a:lnSpc>
            </a:pPr>
            <a:r>
              <a:rPr sz="2150" dirty="0">
                <a:solidFill>
                  <a:srgbClr val="DBD6E4"/>
                </a:solidFill>
                <a:latin typeface="Yu Gothic"/>
                <a:cs typeface="Yu Gothic"/>
              </a:rPr>
              <a:t>1.</a:t>
            </a:r>
            <a:r>
              <a:rPr sz="2150" spc="-350" dirty="0">
                <a:solidFill>
                  <a:srgbClr val="DBD6E4"/>
                </a:solidFill>
                <a:latin typeface="Yu Gothic"/>
                <a:cs typeface="Yu Gothic"/>
              </a:rPr>
              <a:t> </a:t>
            </a:r>
            <a:r>
              <a:rPr sz="2150" spc="45" dirty="0">
                <a:solidFill>
                  <a:srgbClr val="DBD6E4"/>
                </a:solidFill>
                <a:latin typeface="Tahoma"/>
                <a:cs typeface="Tahoma"/>
              </a:rPr>
              <a:t>Javascript </a:t>
            </a:r>
            <a:r>
              <a:rPr sz="2150" dirty="0">
                <a:solidFill>
                  <a:srgbClr val="DBD6E4"/>
                </a:solidFill>
                <a:latin typeface="Yu Gothic"/>
                <a:cs typeface="Yu Gothic"/>
              </a:rPr>
              <a:t>1.</a:t>
            </a:r>
            <a:r>
              <a:rPr sz="2150" spc="-350" dirty="0">
                <a:solidFill>
                  <a:srgbClr val="DBD6E4"/>
                </a:solidFill>
                <a:latin typeface="Yu Gothic"/>
                <a:cs typeface="Yu Gothic"/>
              </a:rPr>
              <a:t> </a:t>
            </a:r>
            <a:r>
              <a:rPr sz="2150" spc="65" dirty="0">
                <a:solidFill>
                  <a:srgbClr val="DBD6E4"/>
                </a:solidFill>
                <a:latin typeface="Tahoma"/>
                <a:cs typeface="Tahoma"/>
              </a:rPr>
              <a:t>ReactJS </a:t>
            </a:r>
            <a:r>
              <a:rPr sz="2150" dirty="0">
                <a:solidFill>
                  <a:srgbClr val="DBD6E4"/>
                </a:solidFill>
                <a:latin typeface="Yu Gothic"/>
                <a:cs typeface="Yu Gothic"/>
              </a:rPr>
              <a:t>1.</a:t>
            </a:r>
            <a:r>
              <a:rPr sz="2150" spc="-350" dirty="0">
                <a:solidFill>
                  <a:srgbClr val="DBD6E4"/>
                </a:solidFill>
                <a:latin typeface="Yu Gothic"/>
                <a:cs typeface="Yu Gothic"/>
              </a:rPr>
              <a:t> </a:t>
            </a:r>
            <a:r>
              <a:rPr sz="2150" spc="40" dirty="0">
                <a:solidFill>
                  <a:srgbClr val="DBD6E4"/>
                </a:solidFill>
                <a:latin typeface="Tahoma"/>
                <a:cs typeface="Tahoma"/>
              </a:rPr>
              <a:t>Axios</a:t>
            </a:r>
            <a:endParaRPr sz="2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sz="2150" dirty="0">
                <a:solidFill>
                  <a:srgbClr val="DBD6E4"/>
                </a:solidFill>
                <a:latin typeface="Yu Gothic"/>
                <a:cs typeface="Yu Gothic"/>
              </a:rPr>
              <a:t>1.</a:t>
            </a:r>
            <a:r>
              <a:rPr sz="2150" spc="-340" dirty="0">
                <a:solidFill>
                  <a:srgbClr val="DBD6E4"/>
                </a:solidFill>
                <a:latin typeface="Yu Gothic"/>
                <a:cs typeface="Yu Gothic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React</a:t>
            </a:r>
            <a:r>
              <a:rPr sz="2150" spc="2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Router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14482" y="3034072"/>
            <a:ext cx="2961640" cy="31229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300355" algn="l"/>
              </a:tabLst>
            </a:pP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Node.js</a:t>
            </a:r>
            <a:endParaRPr sz="2150">
              <a:latin typeface="Tahoma"/>
              <a:cs typeface="Tahoma"/>
            </a:endParaRPr>
          </a:p>
          <a:p>
            <a:pPr marL="315595" indent="-287655">
              <a:lnSpc>
                <a:spcPct val="100000"/>
              </a:lnSpc>
              <a:spcBef>
                <a:spcPts val="1775"/>
              </a:spcBef>
              <a:buAutoNum type="arabicPeriod"/>
              <a:tabLst>
                <a:tab pos="315595" algn="l"/>
              </a:tabLst>
            </a:pP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Express.js</a:t>
            </a:r>
            <a:endParaRPr sz="2150">
              <a:latin typeface="Tahoma"/>
              <a:cs typeface="Tahoma"/>
            </a:endParaRPr>
          </a:p>
          <a:p>
            <a:pPr marL="326390" indent="-287655">
              <a:lnSpc>
                <a:spcPct val="100000"/>
              </a:lnSpc>
              <a:spcBef>
                <a:spcPts val="1770"/>
              </a:spcBef>
              <a:buAutoNum type="arabicPeriod"/>
              <a:tabLst>
                <a:tab pos="326390" algn="l"/>
              </a:tabLst>
            </a:pPr>
            <a:r>
              <a:rPr sz="2150" spc="40" dirty="0">
                <a:solidFill>
                  <a:srgbClr val="DBD6E4"/>
                </a:solidFill>
                <a:latin typeface="Tahoma"/>
                <a:cs typeface="Tahoma"/>
              </a:rPr>
              <a:t>MySQL</a:t>
            </a:r>
            <a:endParaRPr sz="2150">
              <a:latin typeface="Tahoma"/>
              <a:cs typeface="Tahoma"/>
            </a:endParaRPr>
          </a:p>
          <a:p>
            <a:pPr marL="347980" indent="-287655">
              <a:lnSpc>
                <a:spcPct val="100000"/>
              </a:lnSpc>
              <a:spcBef>
                <a:spcPts val="1775"/>
              </a:spcBef>
              <a:buAutoNum type="arabicPeriod"/>
              <a:tabLst>
                <a:tab pos="347980" algn="l"/>
              </a:tabLst>
            </a:pP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REST</a:t>
            </a:r>
            <a:r>
              <a:rPr sz="2150" spc="5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25" dirty="0">
                <a:solidFill>
                  <a:srgbClr val="DBD6E4"/>
                </a:solidFill>
                <a:latin typeface="Tahoma"/>
                <a:cs typeface="Tahoma"/>
              </a:rPr>
              <a:t>API</a:t>
            </a:r>
            <a:endParaRPr sz="2150">
              <a:latin typeface="Tahoma"/>
              <a:cs typeface="Tahoma"/>
            </a:endParaRPr>
          </a:p>
          <a:p>
            <a:pPr marL="335280" indent="-287655">
              <a:lnSpc>
                <a:spcPct val="100000"/>
              </a:lnSpc>
              <a:spcBef>
                <a:spcPts val="1770"/>
              </a:spcBef>
              <a:buAutoNum type="arabicPeriod"/>
              <a:tabLst>
                <a:tab pos="335280" algn="l"/>
              </a:tabLst>
            </a:pP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Sequelize</a:t>
            </a:r>
            <a:endParaRPr sz="2150">
              <a:latin typeface="Tahoma"/>
              <a:cs typeface="Tahoma"/>
            </a:endParaRPr>
          </a:p>
          <a:p>
            <a:pPr marL="368300" indent="-287655">
              <a:lnSpc>
                <a:spcPct val="100000"/>
              </a:lnSpc>
              <a:spcBef>
                <a:spcPts val="1770"/>
              </a:spcBef>
              <a:buAutoNum type="arabicPeriod"/>
              <a:tabLst>
                <a:tab pos="368300" algn="l"/>
              </a:tabLst>
            </a:pP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JWT(json</a:t>
            </a:r>
            <a:r>
              <a:rPr sz="2150" spc="3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web</a:t>
            </a:r>
            <a:r>
              <a:rPr sz="2150" spc="3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token)</a:t>
            </a:r>
            <a:endParaRPr sz="215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18286730" cy="894080"/>
            <a:chOff x="0" y="0"/>
            <a:chExt cx="18286730" cy="894080"/>
          </a:xfrm>
        </p:grpSpPr>
        <p:sp>
          <p:nvSpPr>
            <p:cNvPr id="8" name="object 8"/>
            <p:cNvSpPr/>
            <p:nvPr/>
          </p:nvSpPr>
          <p:spPr>
            <a:xfrm>
              <a:off x="0" y="0"/>
              <a:ext cx="18286730" cy="894080"/>
            </a:xfrm>
            <a:custGeom>
              <a:avLst/>
              <a:gdLst/>
              <a:ahLst/>
              <a:cxnLst/>
              <a:rect l="l" t="t" r="r" b="b"/>
              <a:pathLst>
                <a:path w="18286730" h="894080">
                  <a:moveTo>
                    <a:pt x="18286728" y="893567"/>
                  </a:moveTo>
                  <a:lnTo>
                    <a:pt x="0" y="893567"/>
                  </a:lnTo>
                  <a:lnTo>
                    <a:pt x="0" y="0"/>
                  </a:lnTo>
                  <a:lnTo>
                    <a:pt x="18286728" y="0"/>
                  </a:lnTo>
                  <a:lnTo>
                    <a:pt x="18286728" y="893567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79915" y="243840"/>
              <a:ext cx="2047874" cy="647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857999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8286730" cy="894080"/>
            </a:xfrm>
            <a:custGeom>
              <a:avLst/>
              <a:gdLst/>
              <a:ahLst/>
              <a:cxnLst/>
              <a:rect l="l" t="t" r="r" b="b"/>
              <a:pathLst>
                <a:path w="18286730" h="894080">
                  <a:moveTo>
                    <a:pt x="18286728" y="893567"/>
                  </a:moveTo>
                  <a:lnTo>
                    <a:pt x="0" y="893567"/>
                  </a:lnTo>
                  <a:lnTo>
                    <a:pt x="0" y="0"/>
                  </a:lnTo>
                  <a:lnTo>
                    <a:pt x="18286728" y="0"/>
                  </a:lnTo>
                  <a:lnTo>
                    <a:pt x="18286728" y="893567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9551809"/>
              <a:ext cx="18288000" cy="735330"/>
            </a:xfrm>
            <a:custGeom>
              <a:avLst/>
              <a:gdLst/>
              <a:ahLst/>
              <a:cxnLst/>
              <a:rect l="l" t="t" r="r" b="b"/>
              <a:pathLst>
                <a:path w="18288000" h="735329">
                  <a:moveTo>
                    <a:pt x="18287885" y="735191"/>
                  </a:moveTo>
                  <a:lnTo>
                    <a:pt x="0" y="735191"/>
                  </a:lnTo>
                  <a:lnTo>
                    <a:pt x="0" y="0"/>
                  </a:lnTo>
                  <a:lnTo>
                    <a:pt x="18287885" y="0"/>
                  </a:lnTo>
                  <a:lnTo>
                    <a:pt x="18287885" y="73519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79915" y="243840"/>
              <a:ext cx="2047874" cy="64762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837537" y="3757527"/>
            <a:ext cx="3406140" cy="8731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550" spc="50" dirty="0">
                <a:solidFill>
                  <a:srgbClr val="F1F0F4"/>
                </a:solidFill>
                <a:latin typeface="Verdana"/>
                <a:cs typeface="Verdana"/>
              </a:rPr>
              <a:t>Technical</a:t>
            </a:r>
            <a:endParaRPr sz="55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37537" y="4959089"/>
            <a:ext cx="9215120" cy="13684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67310">
              <a:lnSpc>
                <a:spcPct val="136600"/>
              </a:lnSpc>
              <a:spcBef>
                <a:spcPts val="90"/>
              </a:spcBef>
            </a:pPr>
            <a:r>
              <a:rPr sz="2150" spc="75" dirty="0">
                <a:solidFill>
                  <a:srgbClr val="DBD6E4"/>
                </a:solidFill>
                <a:latin typeface="Tahoma"/>
                <a:cs typeface="Tahoma"/>
              </a:rPr>
              <a:t>A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responsive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web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design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ensures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mobile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and</a:t>
            </a:r>
            <a:r>
              <a:rPr sz="2150" spc="-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desktop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compatibility.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 Benefit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from</a:t>
            </a:r>
            <a:r>
              <a:rPr sz="2150" spc="1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a</a:t>
            </a:r>
            <a:r>
              <a:rPr sz="2150" spc="1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scalable</a:t>
            </a:r>
            <a:r>
              <a:rPr sz="2150" spc="1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backend</a:t>
            </a:r>
            <a:r>
              <a:rPr sz="2150" spc="1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infrastructure,</a:t>
            </a:r>
            <a:r>
              <a:rPr sz="2150" spc="1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optimized</a:t>
            </a:r>
            <a:r>
              <a:rPr sz="2150" spc="1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for</a:t>
            </a:r>
            <a:r>
              <a:rPr sz="2150" spc="1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performance.</a:t>
            </a:r>
            <a:r>
              <a:rPr sz="2150" spc="1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25" dirty="0">
                <a:solidFill>
                  <a:srgbClr val="DBD6E4"/>
                </a:solidFill>
                <a:latin typeface="Tahoma"/>
                <a:cs typeface="Tahoma"/>
              </a:rPr>
              <a:t>The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platform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65" dirty="0">
                <a:solidFill>
                  <a:srgbClr val="DBD6E4"/>
                </a:solidFill>
                <a:latin typeface="Tahoma"/>
                <a:cs typeface="Tahoma"/>
              </a:rPr>
              <a:t>is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technically</a:t>
            </a:r>
            <a:r>
              <a:rPr sz="2150" spc="-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sound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dirty="0">
                <a:solidFill>
                  <a:srgbClr val="DBD6E4"/>
                </a:solidFill>
                <a:latin typeface="Tahoma"/>
                <a:cs typeface="Tahoma"/>
              </a:rPr>
              <a:t>and</a:t>
            </a:r>
            <a:r>
              <a:rPr sz="2150" spc="-5" dirty="0">
                <a:solidFill>
                  <a:srgbClr val="DBD6E4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DBD6E4"/>
                </a:solidFill>
                <a:latin typeface="Tahoma"/>
                <a:cs typeface="Tahoma"/>
              </a:rPr>
              <a:t>adaptable.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DF0A0D4-407D-DCB6-F8F5-FB120D6D9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7D8796E-1F83-1508-24D2-3B0F10F7C9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95600" y="4457700"/>
            <a:ext cx="11743690" cy="215443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spcBef>
                <a:spcPts val="120"/>
              </a:spcBef>
              <a:tabLst>
                <a:tab pos="2917825" algn="l"/>
              </a:tabLst>
            </a:pPr>
            <a:r>
              <a:rPr lang="en" sz="8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Thank You</a:t>
            </a:r>
            <a:br>
              <a:rPr lang="en-US" sz="6000" spc="-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5900">
              <a:latin typeface="Times New Roman"/>
              <a:cs typeface="Times New Roman"/>
            </a:endParaRPr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CB5B1362-6789-DA0E-76DC-243116533CF0}"/>
              </a:ext>
            </a:extLst>
          </p:cNvPr>
          <p:cNvGrpSpPr/>
          <p:nvPr/>
        </p:nvGrpSpPr>
        <p:grpSpPr>
          <a:xfrm>
            <a:off x="0" y="0"/>
            <a:ext cx="18286730" cy="894080"/>
            <a:chOff x="0" y="0"/>
            <a:chExt cx="18286730" cy="894080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8051698-1DD1-0159-4C7D-BE34E030FFA7}"/>
                </a:ext>
              </a:extLst>
            </p:cNvPr>
            <p:cNvSpPr/>
            <p:nvPr/>
          </p:nvSpPr>
          <p:spPr>
            <a:xfrm>
              <a:off x="0" y="0"/>
              <a:ext cx="18286730" cy="894080"/>
            </a:xfrm>
            <a:custGeom>
              <a:avLst/>
              <a:gdLst/>
              <a:ahLst/>
              <a:cxnLst/>
              <a:rect l="l" t="t" r="r" b="b"/>
              <a:pathLst>
                <a:path w="18286730" h="894080">
                  <a:moveTo>
                    <a:pt x="18286728" y="893567"/>
                  </a:moveTo>
                  <a:lnTo>
                    <a:pt x="0" y="893567"/>
                  </a:lnTo>
                  <a:lnTo>
                    <a:pt x="0" y="0"/>
                  </a:lnTo>
                  <a:lnTo>
                    <a:pt x="18286728" y="0"/>
                  </a:lnTo>
                  <a:lnTo>
                    <a:pt x="18286728" y="893567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436524CD-23DE-7A80-0435-101166111B9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79915" y="243840"/>
              <a:ext cx="2047874" cy="647623"/>
            </a:xfrm>
            <a:prstGeom prst="rect">
              <a:avLst/>
            </a:prstGeom>
          </p:spPr>
        </p:pic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EB1AAE0B-9391-1E06-024D-E489C9ABA828}"/>
              </a:ext>
            </a:extLst>
          </p:cNvPr>
          <p:cNvSpPr/>
          <p:nvPr/>
        </p:nvSpPr>
        <p:spPr>
          <a:xfrm>
            <a:off x="0" y="9551809"/>
            <a:ext cx="18288000" cy="735330"/>
          </a:xfrm>
          <a:custGeom>
            <a:avLst/>
            <a:gdLst/>
            <a:ahLst/>
            <a:cxnLst/>
            <a:rect l="l" t="t" r="r" b="b"/>
            <a:pathLst>
              <a:path w="18288000" h="735329">
                <a:moveTo>
                  <a:pt x="18287885" y="735191"/>
                </a:moveTo>
                <a:lnTo>
                  <a:pt x="0" y="735191"/>
                </a:lnTo>
                <a:lnTo>
                  <a:pt x="0" y="0"/>
                </a:lnTo>
                <a:lnTo>
                  <a:pt x="18287885" y="0"/>
                </a:lnTo>
                <a:lnTo>
                  <a:pt x="18287885" y="7351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864D2EF-4E57-55C3-25DB-9ECD3EA4E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5356" y="2846903"/>
            <a:ext cx="7577286" cy="984885"/>
          </a:xfrm>
        </p:spPr>
        <p:txBody>
          <a:bodyPr/>
          <a:lstStyle/>
          <a:p>
            <a:pPr algn="ctr"/>
            <a:endParaRPr lang="en-US" spc="-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099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385</Words>
  <Application>Microsoft Office PowerPoint</Application>
  <PresentationFormat>Custom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Yu Gothic</vt:lpstr>
      <vt:lpstr>Tahoma</vt:lpstr>
      <vt:lpstr>Times New Roman</vt:lpstr>
      <vt:lpstr>Verdana</vt:lpstr>
      <vt:lpstr>Office Theme</vt:lpstr>
      <vt:lpstr>     Forever:E-Commerce Website</vt:lpstr>
      <vt:lpstr>PowerPoint Presentation</vt:lpstr>
      <vt:lpstr>PowerPoint Presentation</vt:lpstr>
      <vt:lpstr>Advanced Sorting Functionality</vt:lpstr>
      <vt:lpstr>PowerPoint Presentation</vt:lpstr>
      <vt:lpstr>User Authentication System</vt:lpstr>
      <vt:lpstr>Website Navigation</vt:lpstr>
      <vt:lpstr>PowerPoint Presentation</vt:lpstr>
      <vt:lpstr>Tech Stack</vt:lpstr>
      <vt:lpstr>PowerPoint Presentation</vt:lpstr>
      <vt:lpstr>  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fseppt.pptx</dc:title>
  <dc:creator>Jashanjot Singh</dc:creator>
  <cp:keywords>DAGn9dfLWIA,BAGizeJhG8I,0</cp:keywords>
  <cp:lastModifiedBy>Jashanjot Singh</cp:lastModifiedBy>
  <cp:revision>4</cp:revision>
  <dcterms:created xsi:type="dcterms:W3CDTF">2025-05-20T05:53:56Z</dcterms:created>
  <dcterms:modified xsi:type="dcterms:W3CDTF">2025-09-09T13:40:52Z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2025-05-20T00:00:00Z</vt:filetime>
  </property>
  <property fmtid="{D5CDD505-2E9C-101B-9397-08002B2CF9AE}" pid="3" name="Creator">
    <vt:lpwstr>Canva</vt:lpwstr>
  </property>
  <property fmtid="{D5CDD505-2E9C-101B-9397-08002B2CF9AE}" pid="4" name="LastSaved">
    <vt:filetime>2025-05-20T00:00:00Z</vt:filetime>
  </property>
  <property fmtid="{D5CDD505-2E9C-101B-9397-08002B2CF9AE}" pid="5" name="Producer">
    <vt:lpwstr>Canva</vt:lpwstr>
  </property>
</Properties>
</file>